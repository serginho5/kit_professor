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cf1ad4e-f4e3-050d-e52e-5b69efdaace2}">
          <p14:sldIdLst>
            <p14:sldId id="256"/>
            <p14:sldId id="257"/>
            <p14:sldId id="258"/>
          </p14:sldIdLst>
        </p14:section>
        <p14:section name="Parte 1 · Por que avaliar" id="{057a608e-0605-a595-dddf-53c69d76377c}">
          <p14:sldIdLst>
            <p14:sldId id="259"/>
            <p14:sldId id="260"/>
            <p14:sldId id="261"/>
            <p14:sldId id="262"/>
            <p14:sldId id="263"/>
          </p14:sldIdLst>
        </p14:section>
        <p14:section name="Parte 2 · A criança" id="{9b90bfb1-8877-89d1-2262-97962d183470}">
          <p14:sldIdLst>
            <p14:sldId id="264"/>
            <p14:sldId id="265"/>
            <p14:sldId id="266"/>
            <p14:sldId id="267"/>
          </p14:sldIdLst>
        </p14:section>
        <p14:section name="Parte 3 · O que observar" id="{467cfcc9-049a-6246-bd1b-851642e1bded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arte 4 · Registrar" id="{4a61a167-4d77-8a0c-c8f1-882a1ca96878}">
          <p14:sldIdLst>
            <p14:sldId id="274"/>
            <p14:sldId id="275"/>
            <p14:sldId id="276"/>
          </p14:sldIdLst>
        </p14:section>
        <p14:section name="Parte 5 · Escrever" id="{370edd51-a972-1cff-91f0-839c447c59e2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Fechamento" id="{43e9b58c-fbd2-03f2-ebd7-a7ce8db924f3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40080"/>
            <a:ext cx="2743200" cy="2743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06440" y="2971800"/>
            <a:ext cx="1371600" cy="13716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2926080"/>
            <a:ext cx="1051560" cy="10515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4069080"/>
            <a:ext cx="777240" cy="77724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502920"/>
            <a:ext cx="548640" cy="54864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325880"/>
            <a:ext cx="1371600" cy="13716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074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Relatórios que enxergam a criança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269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 pedagógico para observar, registrar e escrever relatórios descritivos de bebês e crianças bem pequenas, alinhado à BNCC.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836676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836676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46504" y="8366760"/>
            <a:ext cx="1252728" cy="384048"/>
          </a:xfrm>
          <a:prstGeom prst="roundRect">
            <a:avLst>
              <a:gd name="adj" fmla="val 50000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46504" y="836676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36392" y="836676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36392" y="836676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96926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 a 3 anos e 11 meses  ·  5 campos de experiência  ·  61 objetivos de aprendizagem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COMECE POR AQUI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tem no seu kit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64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Quatro materiais que trabalham juntos: o guia explica o porquê e o como; o banco de frases ajuda a escrever; os modelos deixam o relatório bonito; as fichas garantem que você tenha o que contar.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095244" cy="2148840"/>
          </a:xfrm>
          <a:prstGeom prst="roundRect">
            <a:avLst>
              <a:gd name="adj" fmla="val 766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7367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10128"/>
            <a:ext cx="2546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Guia pedagógico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5466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Base legal, referenciais teóricos, marcos do desenvolvimento, o que observar em cada campo e como escrever. É este arquivo.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18204" y="2331720"/>
            <a:ext cx="3095244" cy="2148840"/>
          </a:xfrm>
          <a:prstGeom prst="roundRect">
            <a:avLst>
              <a:gd name="adj" fmla="val 766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92524" y="2606040"/>
            <a:ext cx="594360" cy="5943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283" y="27367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92524" y="3310128"/>
            <a:ext cx="2546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Banco de frases BNCC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192524" y="3657600"/>
            <a:ext cx="25466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para todos os 61 objetivos de 0 a 3 anos, em três níveis, com próximo passo, situações delicadas e fechamentos. Em Word.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3095244" cy="2148840"/>
          </a:xfrm>
          <a:prstGeom prst="roundRect">
            <a:avLst>
              <a:gd name="adj" fmla="val 766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5029200"/>
            <a:ext cx="594360" cy="59436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51599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" y="5733288"/>
            <a:ext cx="2546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Modelos editáveis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080760"/>
            <a:ext cx="25466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Relatórios prontos para editar no Canva: Berçário, Maternal I e II, carta à família, relatório da turma e exemplos preenchidos.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918204" y="4754880"/>
            <a:ext cx="3095244" cy="2148840"/>
          </a:xfrm>
          <a:prstGeom prst="roundRect">
            <a:avLst>
              <a:gd name="adj" fmla="val 766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92524" y="5029200"/>
            <a:ext cx="594360" cy="59436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283" y="515995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192524" y="5733288"/>
            <a:ext cx="2546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Fichas de observação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192524" y="6080760"/>
            <a:ext cx="25466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Fichas para o dia a dia: registro rápido, rodízio da turma, ficha por campo, mini-história e acompanhamento dos cuidados.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7269480"/>
            <a:ext cx="6464808" cy="2377440"/>
          </a:xfrm>
          <a:prstGeom prst="roundRect">
            <a:avLst>
              <a:gd name="adj" fmla="val 692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68680" y="7543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editar no Canva (recomendado)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868680" y="8092440"/>
            <a:ext cx="384048" cy="38404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68680" y="8092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" y="859536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Canva, clique em "Criar design" &gt; "Importar arquivo" e escolha o arquivo .pptx (ou arraste o arquivo para a página inicial).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971800" y="8092440"/>
            <a:ext cx="384048" cy="38404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2971800" y="8092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2971800" y="859536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Canva transforma o arquivo em um design A4 editável. Clique em qualquer texto, foto ou cor para alterar.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074920" y="8092440"/>
            <a:ext cx="384048" cy="38404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074920" y="8092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074920" y="859536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Baixe em PDF para entregar às famílias e arquivar. Há versões em Word como alternativa, sem o mesmo acabamento.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SUMÁRIO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você vai encontrar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084832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Por que e para que avaliar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1460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Base legal · avaliação é e não é · referenciais teóricos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48" y="182880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593592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Quem é a criança de 0 a 3 anos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402336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Faixas da BNCC · direitos de aprendizagem · marcos do desenvolvimento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48" y="333756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86D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5102352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observar em cada campo de experiência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553212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cinco campos de experiência no Berçário e no Maternal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48" y="484632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13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635508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1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6611112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observar e registrar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704088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Seis técnicas de registro · o método dos 5 minutos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099048" y="635508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19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786384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7863840"/>
            <a:ext cx="914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7C9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8119872"/>
            <a:ext cx="4178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escrever o relatório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8549640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Estrutura · linguagem · erros comuns · situações delicadas · checklist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099048" y="786384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22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9372600"/>
            <a:ext cx="6464808" cy="685800"/>
          </a:xfrm>
          <a:prstGeom prst="roundRect">
            <a:avLst>
              <a:gd name="adj" fmla="val 240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9372600"/>
            <a:ext cx="4178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Referências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9372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 29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097280"/>
            <a:ext cx="3657600" cy="3657600"/>
          </a:xfrm>
          <a:prstGeom prst="ellipse">
            <a:avLst/>
          </a:prstGeom>
          <a:solidFill>
            <a:srgbClr val="EF6F57">
              <a:alpha val="15000"/>
            </a:srgbClr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011680"/>
            <a:ext cx="1828800" cy="18288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01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Por que e para que avaliar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83971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 lei pede, o que a avaliação na Educação Infantil é (e não é) e as ideias que sustentam um bom relatório.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1 · BASE LEGAL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relatório é um direito da criança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64808" cy="2423160"/>
          </a:xfrm>
          <a:prstGeom prst="roundRect">
            <a:avLst>
              <a:gd name="adj" fmla="val 679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21408"/>
            <a:ext cx="518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LDB · Lei nº 9.394/1996, art. 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651760"/>
            <a:ext cx="5184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Educação Infantil, a avaliação é feita por meio do acompanhamento e do registro do desenvolvimento das crianças, sem o objetivo de promoção, e a instituição deve expedir documentação que permita atestar os processos de desenvolvimento e aprendizagem de cada criança (redação dada pela Lei nº 12.796/2013).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554480" y="3611880"/>
            <a:ext cx="5184648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6E2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91640" y="3611880"/>
            <a:ext cx="4910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prática: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é a principal forma de cumprir essa exigência: ele documenta o processo de cada criança.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48755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4773168"/>
            <a:ext cx="518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DCNEI · Resolução CNE/CEB nº 5/2009, art. 10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5303520"/>
            <a:ext cx="518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Diretrizes Curriculares Nacionais para a Educação Infantil determinam que a avaliação aconteça sem seleção, promoção ou classificação, por meio da observação crítica e criativa das brincadeiras e interações, do uso de múltiplos registros (relatórios, fotografias, desenhos, álbuns), da continuidade dos processos nas transições e de documentação que permita às famílias conhecer o trabalho da instituição.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554480" y="6446520"/>
            <a:ext cx="5184648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6E2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691640" y="6446520"/>
            <a:ext cx="4910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prática: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Observar no cotidiano, registrar de várias formas e comunicar às famílias.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7315200"/>
            <a:ext cx="6464808" cy="2423160"/>
          </a:xfrm>
          <a:prstGeom prst="roundRect">
            <a:avLst>
              <a:gd name="adj" fmla="val 679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758952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77102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54480" y="7607808"/>
            <a:ext cx="518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BNCC · Educação Infantil (2017)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554480" y="8138160"/>
            <a:ext cx="5184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Base Nacional Comum Curricular organiza a Educação Infantil em dois eixos estruturantes (interações e brincadeira), seis direitos de aprendizagem e cinco campos de experiência, com objetivos de aprendizagem por faixa etária. Indica que o acompanhamento das aprendizagens se dê por observação da trajetória de cada criança e do grupo, com registros variados, sem intenção de classificação.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554480" y="9098280"/>
            <a:ext cx="5184648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6E2E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691640" y="9098280"/>
            <a:ext cx="4910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prática: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campos de experiência e os objetivos são a "lente" para organizar o que você observou.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1 · CONCEPÇÃO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Avaliar é acompanhar, não classificar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Segundo as Diretrizes Curriculares Nacionais, a avaliação na Educação Infantil acontece sem seleção, promoção ou classificação. Seu objetivo é conhecer cada criança para planejar melhor e contar à família como ela vive e aprende na instituição.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095244" cy="5486400"/>
          </a:xfrm>
          <a:prstGeom prst="roundRect">
            <a:avLst>
              <a:gd name="adj" fmla="val 5318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092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971800"/>
            <a:ext cx="1906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relatório É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3867912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3794760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Acompanhar o percurso de cada criança ao longo do tempo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4581144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4507992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Descrever o que a criança faz, diz e descobre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5294376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5221224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Comparar a criança com ela mesma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600760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5934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Revelar conquistas e apontar próximos passos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6720840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6647688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Mostrar a intencionalidade do trabalho da professora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7434072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3000" y="7360920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documento que a família lê com emoção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18204" y="2697480"/>
            <a:ext cx="3095244" cy="5486400"/>
          </a:xfrm>
          <a:prstGeom prst="roundRect">
            <a:avLst>
              <a:gd name="adj" fmla="val 5318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92524" y="297180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25" y="3092501"/>
            <a:ext cx="307238" cy="30723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878324" y="2971800"/>
            <a:ext cx="1906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relatório NÃO É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4238244" y="3867912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12564" y="3794760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Dar nota, conceito, aprovar ou reprovar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38244" y="4581144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12564" y="4507992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Listar o que a criança "não sabe" ou "não faz"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238244" y="5294376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12564" y="5221224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Comparar com os colegas ou com um padrão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238244" y="600760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512564" y="5934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Rotular ("agressivo", "tímido", "hiperativo")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238244" y="6720840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12564" y="6647688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Diagnosticar ou levantar hipóteses clínicas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238244" y="7434072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512564" y="7360920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texto genérico, igual para todas as crianças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48640" y="8458200"/>
            <a:ext cx="6464808" cy="1371600"/>
          </a:xfrm>
          <a:prstGeom prst="roundRect">
            <a:avLst>
              <a:gd name="adj" fmla="val 12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68680" y="8458200"/>
            <a:ext cx="5824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pergunta para guiar a escrita
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"Se a família ler este texto, vai reconhecer o próprio filho e saber o que ele viveu e aprendeu aqui?"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1 · REFERENCIAIS TEÓRICOS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As ideias que sustentam o relatório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AVALIAÇÃO MEDIADORA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8600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Jussara Hoffmann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74320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Avaliar na Educação Infantil é acompanhar a criança com um olhar sensível e reflexivo, para conhecê-la melhor e planejar ações educativas a partir do que ela revela. O relatório deve contar a história singular de cada criança, e não uma lista de comportamentos.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45920" y="376732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83080" y="376732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Escreva sobre a criança real, com fatos e cenas, e diga o que você fará a partir disso.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498713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45920" y="484632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DOCUMENTAÇÃO PEDAGÓGICA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45920" y="507492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Loris Malaguzzi e a abordagem de Reggio Emilia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553212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criança é potente, competente e se expressa por "cem linguagens". Documentar (fotografar, anotar falas, guardar produções) torna visível o pensamento da criança e permite que a professora reflita sobre a própria prática.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645920" y="655624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83080" y="655624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falas da criança, fotos com legenda e mini-histórias como matéria-prima do relatório.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736092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" y="7635240"/>
            <a:ext cx="640080" cy="6400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777605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45920" y="763524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 LIVRE E CUIDADO COMO RELAÇÃO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645920" y="786384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Emmi Pikler e o Instituto Lóczy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645920" y="832104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bebê é ativo e capaz de conquistar o próprio desenvolvimento motor, se tiver liberdade, segurança e tempo. Os momentos de cuidado (troca, banho, alimentação) são momentos privilegiados de relação, nos quais o adulto antecipa os gestos e convida o bebê a participar.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645920" y="934516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783080" y="934516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Valorize as conquistas motoras no tempo de cada criança e descreva os cuidados como aprendizagem.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1 · REFERENCIAIS TEÓRICOS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As ideias que sustentam o relatório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AFETIVIDADE, EMOÇÃO E MOVIMENTO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8600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Henri Wallon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74320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criança pequena, emoção, movimento e pensamento são inseparáveis. A afetividade é a base do desenvolvimento, e o movimento é uma das primeiras formas de expressão e comunicação.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45920" y="376732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83080" y="376732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Descreva como a criança expressa emoções com o corpo e como se dão os vínculos.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498713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45920" y="484632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MEDIAÇÃO E ZONA DE DESENVOLVIMENTO PROXIMAL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645920" y="507492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Lev Vygotsky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553212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aprendizagem acontece nas interações com pessoas mais experientes. Aquilo que a criança faz hoje com ajuda é o que ela fará sozinha amanhã, e é ali que a ação do professor tem mais potência.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645920" y="655624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83080" y="655624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 criança faz "com o apoio do adulto" é o seu próximo passo, não uma falta.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7360920"/>
            <a:ext cx="6464808" cy="2606040"/>
          </a:xfrm>
          <a:prstGeom prst="roundRect">
            <a:avLst>
              <a:gd name="adj" fmla="val 63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" y="763524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777605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45920" y="7635240"/>
            <a:ext cx="5093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CONSTRUÇÃO DO CONHECIMENTO PELA AÇÃO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645920" y="7863840"/>
            <a:ext cx="5093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Jean Piaget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645920" y="8321040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0 a 2 anos (período sensório-motor), a criança conhece o mundo pela ação e pelos sentidos: explora objetos, descobre causa e efeito e constrói a noção de permanência do objeto. A partir dos 2 anos, surge a função simbólica: faz de conta, imitação diferida e linguagem.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645920" y="9345168"/>
            <a:ext cx="509320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783080" y="9345168"/>
            <a:ext cx="4818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Encher, esvaziar, derrubar e esconder são pesquisas, não bagunça. Descreva-as assim.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097280"/>
            <a:ext cx="3657600" cy="3657600"/>
          </a:xfrm>
          <a:prstGeom prst="ellipse">
            <a:avLst/>
          </a:prstGeom>
          <a:solidFill>
            <a:srgbClr val="2FA587">
              <a:alpha val="15000"/>
            </a:srgbClr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011680"/>
            <a:ext cx="1828800" cy="18288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02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Quem é a criança de 0 a 3 anos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46150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faixas etárias da BNCC, os direitos de aprendizagem e os marcos que ajudam a olhar com intenção.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2 · BNCC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Faixas etárias e direitos de aprendizagem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BNCC organiza os objetivos da Educação Infantil em três grupos etários. Este kit cobre os dois primeiros, que correspondem à creche. O código de cada objetivo indica etapa, faixa, campo e número: EI 02 EF 05.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033016" cy="2331720"/>
          </a:xfrm>
          <a:prstGeom prst="roundRect">
            <a:avLst>
              <a:gd name="adj" fmla="val 809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4320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EI01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zero a 1 ano e 6 meses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I e II (conforme a rede)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64536" y="2514600"/>
            <a:ext cx="2033016" cy="2331720"/>
          </a:xfrm>
          <a:prstGeom prst="roundRect">
            <a:avLst>
              <a:gd name="adj" fmla="val 809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3136" y="274320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EI02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93136" y="32918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93136" y="37490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ano e 7 meses a 3 anos e 11 meses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93136" y="420624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 e II / Infantil 2 e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0432" y="2514600"/>
            <a:ext cx="2033016" cy="2331720"/>
          </a:xfrm>
          <a:prstGeom prst="roundRect">
            <a:avLst>
              <a:gd name="adj" fmla="val 8096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9032" y="274320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EI03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09032" y="32918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pequenas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09032" y="3749040"/>
            <a:ext cx="157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anos a 5 anos e 11 meses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09032" y="4206240"/>
            <a:ext cx="157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Pré-escola (fora deste kit)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Os seis direitos de aprendizagem e desenvolvimento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Use-os como lente: um bom relatório mostra como cada criança exerceu esses direitos no semestre.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6236208"/>
            <a:ext cx="566928" cy="56692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6360932"/>
            <a:ext cx="317480" cy="3174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81328" y="617220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Conviver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481328" y="649224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 outras crianças e adultos, em pequenos e grandes grupos.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918204" y="598932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9372" y="6236208"/>
            <a:ext cx="566928" cy="56692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96" y="6360932"/>
            <a:ext cx="317480" cy="3174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850892" y="617220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Brincar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4850892" y="649224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cotidianamente, de diversas formas, com diferentes parceiros.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48640" y="722376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49808" y="7470648"/>
            <a:ext cx="566928" cy="56692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" y="7595372"/>
            <a:ext cx="317480" cy="31748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481328" y="740664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Participar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1481328" y="772668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ativamente das decisões e das atividades da vida cotidiana.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918204" y="722376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119372" y="7470648"/>
            <a:ext cx="566928" cy="566928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096" y="7595372"/>
            <a:ext cx="317480" cy="31748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4850892" y="740664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Explorar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4850892" y="772668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movimentos, gestos, sons, formas, texturas, cores, palavras, objetos.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845820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49808" y="8705088"/>
            <a:ext cx="566928" cy="56692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32" y="8829812"/>
            <a:ext cx="317480" cy="31748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481328" y="864108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Expressar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481328" y="896112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necessidades, emoções, sentimentos, dúvidas, descobertas, opiniões.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3918204" y="8458200"/>
            <a:ext cx="3095244" cy="1078992"/>
          </a:xfrm>
          <a:prstGeom prst="roundRect">
            <a:avLst>
              <a:gd name="adj" fmla="val 1525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4119372" y="8705088"/>
            <a:ext cx="566928" cy="56692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096" y="8829812"/>
            <a:ext cx="317480" cy="31748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4850892" y="864108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Conhecer-se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4850892" y="896112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 construir sua identidade pessoal, social e cultural.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53" name="Text 45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2 · DESENVOLVIMENTO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Marcos: 0 a 18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 a 6 meses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797" y="2674437"/>
            <a:ext cx="174102" cy="1741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Sustenta a cabeça; rola; leva as mãos e objetos à boca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13432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260604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89" y="2674437"/>
            <a:ext cx="174102" cy="1741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16352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450592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Sorriso social; arrulhos e vocalizações; vira-se em direção aos sons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49624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86784" y="260604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81" y="2674437"/>
            <a:ext cx="174102" cy="1741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52544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986784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Acalma-se com a voz e o colo de quem cuida; reconhece pessoas próximas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385816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522976" y="260604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373" y="2674437"/>
            <a:ext cx="174102" cy="1741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88736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522976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Acompanha objetos com o olhar; explora com a boca e as mãos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3434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4343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a 12 meses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77240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14400" y="502920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97" y="5097597"/>
            <a:ext cx="174102" cy="1741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80160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Senta sem apoio; arrasta-se ou engatinha; fica de pé com apoio; pinça os dedos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313432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450592" y="502920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8989" y="5097597"/>
            <a:ext cx="174102" cy="1741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816352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2450592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Balbucia sílabas repetidas ("mamama"); responde ao nome; dá tchau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3849624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986784" y="502920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181" y="5097597"/>
            <a:ext cx="174102" cy="1741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352544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3986784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Estranha pessoas desconhecidas; brinca de esconder e achar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5385816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522976" y="502920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373" y="5097597"/>
            <a:ext cx="174102" cy="1741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888736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5522976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Procura objeto escondido; bate, sacode e joga objetos para ver o efeito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548640" y="653796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777240" y="6766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777240" y="6766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 a 18 meses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777240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914400" y="745236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97" y="7520757"/>
            <a:ext cx="174102" cy="174102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280160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914400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Anda sozinho; empilha 2 a 3 blocos; rabisca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2313432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2450592" y="745236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8989" y="7520757"/>
            <a:ext cx="174102" cy="174102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2816352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2450592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Primeiras palavras; aponta para mostrar e pedir; atende a pedidos simples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3849624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986784" y="745236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5181" y="7520757"/>
            <a:ext cx="174102" cy="174102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4352544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3986784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Imita adultos; busca o adulto de referência para explorar com segurança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5385816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5522976" y="745236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1373" y="7520757"/>
            <a:ext cx="174102" cy="17410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5888736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72" name="Text 58"/>
          <p:cNvSpPr txBox="1"/>
          <p:nvPr/>
        </p:nvSpPr>
        <p:spPr>
          <a:xfrm>
            <a:off x="5522976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Encaixa, enche e esvazia; usa objetos de forma funcional (colher, telefone)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548640" y="8961120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777240" y="8961120"/>
            <a:ext cx="6007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Importante: </a:t>
            </a:r>
            <a:pPr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Referência geral, baseada na Caderneta da Criança (Ministério da Saúde) e nos marcos do CDC (EUA). Cada criança tem seu ritmo, e a variação é grande e esperada. Os marcos ajudam a olhar com intenção, nunca a comparar ou diagnosticar. Se algum marco não aparece de forma persistente, registre fatos, converse com a coordenação e combinem juntos a conversa com a família, que poderá buscar orientação de profissional de saúde.</a:t>
            </a:r>
            <a:endParaRPr lang="en-US" sz="850" dirty="0"/>
          </a:p>
        </p:txBody>
      </p:sp>
      <p:sp>
        <p:nvSpPr>
          <p:cNvPr id="75" name="Text 61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76" name="Text 62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2 · DESENVOLVIMENTO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Marcos: 18 meses a 4 anos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 a 24 meses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797" y="2674437"/>
            <a:ext cx="174102" cy="1741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Corre; sobe degraus com apoio; chuta bola; usa a colher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13432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260604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89" y="2674437"/>
            <a:ext cx="174102" cy="1741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16352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450592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Vocabulário cresce rápido; começa a juntar duas palavras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49624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86784" y="260604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81" y="2674437"/>
            <a:ext cx="174102" cy="1741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52544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986784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Interessa-se por outras crianças; brinca lado a lado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385816" y="246888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522976" y="260604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373" y="2674437"/>
            <a:ext cx="174102" cy="1741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88736" y="26060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522976" y="299923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Faz de conta simples (dar comida à boneca); reconhece partes do corpo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3434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77240" y="4343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a 3 anos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77240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14400" y="502920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97" y="5097597"/>
            <a:ext cx="174102" cy="1741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80160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Pula com os dois pés; sobe escadas; folheia livros; faz bolinhas de massinha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313432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450592" y="502920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8989" y="5097597"/>
            <a:ext cx="174102" cy="1741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816352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2450592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de 3 ou mais palavras; faz perguntas; nomeia objetos e figuras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3849624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986784" y="502920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181" y="5097597"/>
            <a:ext cx="174102" cy="1741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352544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3986784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Começa a brincar junto; vive disputas e aprende a esperar a vez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5385816" y="489204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522976" y="502920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373" y="5097597"/>
            <a:ext cx="174102" cy="1741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888736" y="50292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5522976" y="542239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Faz de conta elaborado; agrupa objetos iguais; noções de dentro, fora, em cima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548640" y="6537960"/>
            <a:ext cx="6464808" cy="2286000"/>
          </a:xfrm>
          <a:prstGeom prst="roundRect">
            <a:avLst>
              <a:gd name="adj" fmla="val 720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777240" y="6766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777240" y="6766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a 4 anos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777240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914400" y="7452360"/>
            <a:ext cx="310896" cy="31089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97" y="7520757"/>
            <a:ext cx="174102" cy="174102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280160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Movimento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914400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Pedala; equilibra-se; desenha formas fechadas; veste-se com ajuda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2313432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2450592" y="7452360"/>
            <a:ext cx="310896" cy="31089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8989" y="7520757"/>
            <a:ext cx="174102" cy="174102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2816352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2450592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 fatos e histórias curtas; é compreendido pela maioria das pessoas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3849624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986784" y="7452360"/>
            <a:ext cx="310896" cy="31089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5181" y="7520757"/>
            <a:ext cx="174102" cy="174102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4352544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Socioemocional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3986784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Brinca em grupo com papéis ("eu sou a mãe"); segue combinados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5385816" y="7315200"/>
            <a:ext cx="139903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5522976" y="7452360"/>
            <a:ext cx="310896" cy="31089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1373" y="7520757"/>
            <a:ext cx="174102" cy="17410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5888736" y="745236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</a:t>
            </a:r>
            <a:endParaRPr lang="en-US" sz="900" dirty="0"/>
          </a:p>
        </p:txBody>
      </p:sp>
      <p:sp>
        <p:nvSpPr>
          <p:cNvPr id="72" name="Text 58"/>
          <p:cNvSpPr txBox="1"/>
          <p:nvPr/>
        </p:nvSpPr>
        <p:spPr>
          <a:xfrm>
            <a:off x="5522976" y="7845552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 pequenas quantidades; classifica por cor e tamanho; antecipa a rotina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548640" y="8961120"/>
            <a:ext cx="6464808" cy="960120"/>
          </a:xfrm>
          <a:prstGeom prst="roundRect">
            <a:avLst>
              <a:gd name="adj" fmla="val 1714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777240" y="8961120"/>
            <a:ext cx="6007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Importante: </a:t>
            </a:r>
            <a:pPr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Referência geral, baseada na Caderneta da Criança (Ministério da Saúde) e nos marcos do CDC (EUA). Cada criança tem seu ritmo, e a variação é grande e esperada. Os marcos ajudam a olhar com intenção, nunca a comparar ou diagnosticar. Se algum marco não aparece de forma persistente, registre fatos, converse com a coordenação e combinem juntos a conversa com a família, que poderá buscar orientação de profissional de saúde.</a:t>
            </a:r>
            <a:endParaRPr lang="en-US" sz="850" dirty="0"/>
          </a:p>
        </p:txBody>
      </p:sp>
      <p:sp>
        <p:nvSpPr>
          <p:cNvPr id="75" name="Text 61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76" name="Text 62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FE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097280"/>
            <a:ext cx="3657600" cy="3657600"/>
          </a:xfrm>
          <a:prstGeom prst="ellipse">
            <a:avLst/>
          </a:prstGeom>
          <a:solidFill>
            <a:srgbClr val="3F86D6">
              <a:alpha val="15000"/>
            </a:srgbClr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011680"/>
            <a:ext cx="1828800" cy="18288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03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observar em cada campo de experiência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746150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cada campo: o foco, o que olhar no Berçário e no Maternal e as evidências que valem ouro no relatório.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2057400"/>
          </a:xfrm>
          <a:prstGeom prst="roundRect">
            <a:avLst>
              <a:gd name="adj" fmla="val 80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1051560" cy="10515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0543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77724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EO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051560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eu, o outro e o nós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93852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Vínculos, convivência, identidade e emoções.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3090672"/>
            <a:ext cx="502920" cy="50292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2013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4752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Berçário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· EI01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395020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reage à chegada e à despedida da família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97280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 quem busca estar; como pede colo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comunica fome, sono e desconforto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641908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Reações às outras crianças (olhar, tocar, imitar)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18204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3090672"/>
            <a:ext cx="502920" cy="50292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32013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14316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Maternal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14316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· EI02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2524" y="395020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66844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se relaciona nas disputas e como resolve conflitos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92524" y="477316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466844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Gestos de cuidado com colegas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92524" y="559612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66844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Confiança diante de desafios ("eu consigo")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92524" y="641908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466844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Respeito aos combinados e espera da vez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74980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781812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794887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45920" y="766267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Evidências que valem ouro no relatório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645920" y="797356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Falas ("é meu!", "não gostei"), cenas de cuidado entre crianças, fotos de brincadeiras em grupo.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896112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896112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 de registro: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05/09, chegada. Pedro chorou ao se despedir do pai, buscou o colo da professora e, depois de alguns minutos, apontou para os blocos e desceu do colo para brincar.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9966960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prontas para todos os objetivos deste campo (EI01EO e EI02EO) estão no Banco de Frases BNCC.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2057400"/>
          </a:xfrm>
          <a:prstGeom prst="roundRect">
            <a:avLst>
              <a:gd name="adj" fmla="val 80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1051560" cy="10515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0543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77724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CG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051560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Corpo, gestos e movimentos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93852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Conquistas motoras, expressão corporal e autonomia nos cuidados.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3090672"/>
            <a:ext cx="502920" cy="5029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2013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4752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Berçário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· EI01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395020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se desloca (rola, arrasta, engatinha, anda)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97280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Preensão: pega, solta, encaixa, lança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Participação na troca e na alimentação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641908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Expressão de emoções pelo corpo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18204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3090672"/>
            <a:ext cx="502920" cy="5029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32013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14316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Maternal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14316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· EI02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2524" y="395020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66844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Correr, pular, subir, equilibrar-se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92524" y="477316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466844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Noções de dentro/fora, em cima/embaixo no movimento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92524" y="559612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66844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Autonomia: comer, lavar as mãos, vestir-se, desfralde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92524" y="6419088"/>
            <a:ext cx="128016" cy="12801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466844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Controle das mãos: rasgar, folhear, modelar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74980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7818120"/>
            <a:ext cx="594360" cy="5943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794887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45920" y="766267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Evidências que valem ouro no relatório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645920" y="797356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da primeira conquista (primeiros passos), fotos do circuito, registro de autonomia nas refeições.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896112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896112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 de registro: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14/10, pátio. Helena deu cinco passos sozinha até o banco, sentou, bateu palmas e se levantou para tentar de novo.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9966960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prontas para todos os objetivos deste campo (EI01CG e EI02CG) estão no Banco de Frases BNCC.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2057400"/>
          </a:xfrm>
          <a:prstGeom prst="roundRect">
            <a:avLst>
              <a:gd name="adj" fmla="val 80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1051560" cy="105156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0543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77724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TS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051560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Traços, sons, cores e formas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93852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Exploração sensorial, sons, marcas gráficas e criação.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3090672"/>
            <a:ext cx="502920" cy="5029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2013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4752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Berçário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· EI01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395020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Reação às músicas e aos sons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97280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explora tintas, texturas e riscadores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Interesse pelas marcas que produz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641908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Instrumentos e objetos sonoros preferidos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18204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3090672"/>
            <a:ext cx="502920" cy="5029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32013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14316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Maternal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14316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· EI02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2524" y="395020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66844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Acompanha ritmos; canta trechos das músicas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92524" y="477316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466844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Modela, constrói e nomeia o que cria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92524" y="559612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66844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Desenha com intenção e fala sobre o desenho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92524" y="6419088"/>
            <a:ext cx="128016" cy="1280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466844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Preferências de cores e materiais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74980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7818120"/>
            <a:ext cx="594360" cy="59436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794887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45920" y="766267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Evidências que valem ouro no relatório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645920" y="797356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Produções datadas com a fala da criança, vídeos curtos de música, fotos do processo (não só do resultado).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896112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896112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 de registro: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22/08, pintura com beterraba. Lucas espalhou a tinta com as duas mãos, olhou as palmas vermelhas e disse: "Olha!".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9966960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prontas para todos os objetivos deste campo (EI01TS e EI02TS) estão no Banco de Frases BNCC.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2057400"/>
          </a:xfrm>
          <a:prstGeom prst="roundRect">
            <a:avLst>
              <a:gd name="adj" fmla="val 80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1051560" cy="105156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0543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77724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EF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051560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Escuta, fala, pensamento e imaginação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93852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Comunicação, linguagem oral, escuta, leitura e imaginação.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3090672"/>
            <a:ext cx="502920" cy="5029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2013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4752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Berçário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· EI01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395020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Formas de comunicação: choro, olhar, gesto, balbucio, palavra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97280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Responde ao nome; reconhece pessoas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Interesse por livros, poemas e canções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641908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Aponta figuras; imita sons e entonações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18204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3090672"/>
            <a:ext cx="502920" cy="5029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32013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14316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Maternal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14316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· EI02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2524" y="395020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66844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Tamanho das frases; perguntas que faz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92524" y="477316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466844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Relata fatos vividos; reconta histórias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92524" y="559612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66844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Brinca com rimas e completa parlendas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92524" y="641908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466844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Faz de conta com narrativas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74980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7818120"/>
            <a:ext cx="594360" cy="59436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794887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45920" y="766267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Evidências que valem ouro no relatório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645920" y="797356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Falas literais da criança (anote entre aspas!), histórias preferidas, palavras novas do mês.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896112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896112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 de registro: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03/10, leitura de "A casa sonolenta". Antes de a professora virar a página, Davi gritou: "E a pulga!".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9966960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prontas para todos os objetivos deste campo (EI01EF e EI02EF) estão no Banco de Frases BNCC.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2057400"/>
          </a:xfrm>
          <a:prstGeom prst="roundRect">
            <a:avLst>
              <a:gd name="adj" fmla="val 8000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1051560" cy="10515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0543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77724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CAMPO DE EXPERIÊNCIA · ET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051560"/>
            <a:ext cx="4544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Espaços, tempos, quantidades, relações e transformações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938528"/>
            <a:ext cx="4544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Investigação do mundo: objetos, espaço, tempo, quantidades e natureza.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3090672"/>
            <a:ext cx="502920" cy="5029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" y="32013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44752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Berçário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bebês · EI01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395020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 objetos com os sentidos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77316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97280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Pesquisa causa e efeito (derrubar, encher, esvaziar)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Procura objetos escondidos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641908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Desloca e transporta objetos pelo espaço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18204" y="2834640"/>
            <a:ext cx="3095244" cy="4434840"/>
          </a:xfrm>
          <a:prstGeom prst="roundRect">
            <a:avLst>
              <a:gd name="adj" fmla="val 5318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74236" y="3090672"/>
            <a:ext cx="502920" cy="5029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32013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14316" y="3072384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 Maternal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14316" y="3383280"/>
            <a:ext cx="199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 bem pequenas · EI02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2524" y="395020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66844" y="388620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Compara e classifica (cor, tamanho, forma)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92524" y="477316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466844" y="470916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 e recita números nas brincadeiras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92524" y="559612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466844" y="553212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Noções de tempo da rotina (antes, depois)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192524" y="6419088"/>
            <a:ext cx="128016" cy="12801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466844" y="6355080"/>
            <a:ext cx="23180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Observa fenômenos naturais e cuida de plantas e bichos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74980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2960" y="7818120"/>
            <a:ext cx="594360" cy="5943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794887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45920" y="766267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Evidências que valem ouro no relatório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645920" y="797356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Cenas de investigação ("encheu e esvaziou o pote 15 vezes"), perguntas da criança sobre o mundo.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48640" y="896112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896112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Exemplo de registro: </a:t>
            </a:r>
            <a:pPr indent="0" marL="0">
              <a:buNone/>
            </a:pPr>
            <a:r>
              <a:rPr lang="en-US" sz="10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18/09, bacia de água. Helena encheu e virou o copo 12 vezes, cada vez mais devagar, observando a água cair.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9966960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prontas para todos os objetivos deste campo (EI01ET e EI02ET) estão no Banco de Frases BNCC.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097280"/>
            <a:ext cx="3657600" cy="3657600"/>
          </a:xfrm>
          <a:prstGeom prst="ellipse">
            <a:avLst/>
          </a:prstGeom>
          <a:solidFill>
            <a:srgbClr val="E9A21F">
              <a:alpha val="15000"/>
            </a:srgbClr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011680"/>
            <a:ext cx="1828800" cy="18288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04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observar e registrar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83971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Ninguém escreve um bom relatório sem registros. Técnicas simples e uma rotina de 5 minutos por dia.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4 · TÉCNICAS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Seis formas de registrar o cotidiano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DCNEI pedem "múltiplos registros". Combine pelo menos três destas formas ao longo do semestre.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59152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79853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017520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Registro cursivo (anedótico)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364992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Anote em poucas linhas uma cena observada: data, contexto, o que a criança fez e disse. Ex.: "12/09, pátio. Helena empurrou a caixa até a rampa, tentou subir, caiu sentada, riu e tentou de novo."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18204" y="2103120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4236" y="2359152"/>
            <a:ext cx="548640" cy="54864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37" y="247985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74236" y="3017520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Fala literal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174236" y="3364992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Anote entre aspas exatamente o que a criança disse. Uma única fala vale mais que um parágrafo de adjetivos.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4727448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983480"/>
            <a:ext cx="548640" cy="54864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1041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4672" y="564184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Fotografia com legenda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" y="5989320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Fotografe o processo, não só o resultado. Escreva no mesmo dia uma legenda curta: o que estava acontecendo e por que importa.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918204" y="4727448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74236" y="4983480"/>
            <a:ext cx="548640" cy="54864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937" y="510418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174236" y="564184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Mini-história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174236" y="5989320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Sequência de 3 a 5 fotos de uma cena com um pequeno texto narrativo. Revela o pensamento da criança e encanta as famílias.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7351776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7607808"/>
            <a:ext cx="548640" cy="54864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772850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4672" y="8266176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Ficha de acompanhamento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04672" y="8613648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rápida por campo de experiência, preenchida em rodízio (4 ou 5 crianças por dia), para que nenhuma criança fique sem registro.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918204" y="7351776"/>
            <a:ext cx="3095244" cy="2395728"/>
          </a:xfrm>
          <a:prstGeom prst="roundRect">
            <a:avLst>
              <a:gd name="adj" fmla="val 687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174236" y="7607808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937" y="772850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174236" y="8266176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Produções datadas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174236" y="8613648"/>
            <a:ext cx="25831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Desenhos, pinturas e modelagens com data e a fala da criança no verso. Mostram a evolução ao longo do semestre.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4 · ROTINA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método dos 5 minutos por dia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de fim de semestre fica leve quando o registro acontece aos poucos. Este é o ciclo: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05840" y="3063240"/>
            <a:ext cx="0" cy="822960"/>
          </a:xfrm>
          <a:prstGeom prst="line">
            <a:avLst/>
          </a:prstGeom>
          <a:noFill/>
          <a:ln w="25400">
            <a:solidFill>
              <a:srgbClr val="E6E2E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731520" cy="73152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2401214"/>
            <a:ext cx="409651" cy="4096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00200" y="2148840"/>
            <a:ext cx="541324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74520" y="228600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 Planeje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60604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Escolha 4 ou 5 crianças "foco" do dia. Em uma semana, toda a turma é observada com atenção.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05840" y="4297680"/>
            <a:ext cx="0" cy="822960"/>
          </a:xfrm>
          <a:prstGeom prst="line">
            <a:avLst/>
          </a:prstGeom>
          <a:noFill/>
          <a:ln w="25400">
            <a:solidFill>
              <a:srgbClr val="E6E2EF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3474720"/>
            <a:ext cx="731520" cy="7315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" y="3635654"/>
            <a:ext cx="409651" cy="4096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600200" y="3383280"/>
            <a:ext cx="541324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874520" y="352044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 Observe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384048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Durante a rotina (chegada, brincar livre, refeição, pátio), olhe com intenção para as crianças foco.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005840" y="5532120"/>
            <a:ext cx="0" cy="822960"/>
          </a:xfrm>
          <a:prstGeom prst="line">
            <a:avLst/>
          </a:prstGeom>
          <a:noFill/>
          <a:ln w="25400">
            <a:solidFill>
              <a:srgbClr val="E6E2EF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40080" y="4709160"/>
            <a:ext cx="731520" cy="7315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4870094"/>
            <a:ext cx="409651" cy="40965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600200" y="4617720"/>
            <a:ext cx="541324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874520" y="475488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3. Anote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874520" y="507492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minutos no fim do dia: uma cena, uma fala, uma conquista por criança. Use a ficha de observação.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005840" y="6766560"/>
            <a:ext cx="0" cy="822960"/>
          </a:xfrm>
          <a:prstGeom prst="line">
            <a:avLst/>
          </a:prstGeom>
          <a:noFill/>
          <a:ln w="25400">
            <a:solidFill>
              <a:srgbClr val="E6E2EF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640080" y="5943600"/>
            <a:ext cx="731520" cy="7315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6104534"/>
            <a:ext cx="409651" cy="409651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600200" y="5852160"/>
            <a:ext cx="541324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874520" y="59893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4. Organize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874520" y="630936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vez por mês, distribua as anotações pelos campos de experiência na ficha individual.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0080" y="7178040"/>
            <a:ext cx="731520" cy="7315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" y="7338974"/>
            <a:ext cx="409651" cy="40965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600200" y="7086600"/>
            <a:ext cx="541324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874520" y="722376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5. Escreva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1874520" y="7543800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fim do semestre, o relatório nasce dos registros: escolha as melhores cenas e use o banco de frases para costurar o texto.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850392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2960" y="8503920"/>
            <a:ext cx="5916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Dica de ouro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 de 15 crianças, 5 crianças-foco por dia: em 3 dias todas foram observadas com atenção. Em um semestre, isso dá mais de 20 registros por criança, material de sobra para um relatório rico e verdadeiro.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1097280"/>
            <a:ext cx="3657600" cy="3657600"/>
          </a:xfrm>
          <a:prstGeom prst="ellipse">
            <a:avLst/>
          </a:prstGeom>
          <a:solidFill>
            <a:srgbClr val="8A67C9">
              <a:alpha val="15000"/>
            </a:srgbClr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011680"/>
            <a:ext cx="1828800" cy="182880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05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978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escrever o relatório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83971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estrutura em seis blocos, a linguagem que respeita a criança, os erros mais comuns e as situações delicadas.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ESTRUTURA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Um relatório em seis blocos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Esta estrutura garante que os cinco campos de experiência apareçam sem que o texto vire uma lista. Cada bloco tem de 3 a 6 linhas. Os modelos editáveis já vêm organizados assim.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87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Chegada e vínculos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834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Quem é a criança, como foi a adaptação, como se relaciona com a creche. (EO)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630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Relações e convivência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977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Interações com colegas e adultos, emoções, conflitos e cuidado com o outro. (EO, EF)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773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Corpo, movimento e cuidados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120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Conquistas motoras, alimentação, sono, higiene, desfralde, autonomia. (CG)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943600"/>
            <a:ext cx="640080" cy="6400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943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916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Linguagens e expressão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6263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Comunicação, escuta de histórias, música, artes, faz de conta. (EF, TS)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858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7086600"/>
            <a:ext cx="640080" cy="6400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7086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7059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Explorações e descobertas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645920" y="7406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Investigações, causa e efeito, natureza, quantidades, espaço e tempo. (ET)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8001000"/>
            <a:ext cx="6464808" cy="1005840"/>
          </a:xfrm>
          <a:prstGeom prst="roundRect">
            <a:avLst>
              <a:gd name="adj" fmla="val 16364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8229600"/>
            <a:ext cx="640080" cy="6400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8229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8202168"/>
            <a:ext cx="5093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Conquistas e próximos passos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85496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Síntese do semestre, intenções da equipe e convite à parceria com a família.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9189720"/>
            <a:ext cx="6464808" cy="731520"/>
          </a:xfrm>
          <a:prstGeom prst="roundRect">
            <a:avLst>
              <a:gd name="adj" fmla="val 22500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9189720"/>
            <a:ext cx="5916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Extensão ideal: </a:t>
            </a:r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uma a uma página e meia por criança. Mais longo cansa a família; mais curto vira genérico.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LINGUAGEM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Troque isto por isto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EVITE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PREFIRA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783080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agressivo.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1783080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situações de disputa, Fulano ainda usa o corpo para se expressar; a equipe tem oferecido palavras e alternativas.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551176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551176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não sabe falar.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2551176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se comunica por gestos, olhares e algumas palavras, e compreende bem o que lhe é dito.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3319272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319272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muito chorão.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3319272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expressa suas emoções com intensidade e tem encontrado no adulto de referência o acolhimento de que precisa.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4087368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087368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hiperativo / não para quieto.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182112" y="4087368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tem muita energia para explorar o espaço e se envolve especialmente nas brincadeiras de movimento.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4855464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855464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não come nada.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182112" y="4855464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tem experimentado novos alimentos aos poucos e aceita bem [alimentos].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5623560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5623560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tímido.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182112" y="5623560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prefere observar as situações antes de participar e, quando se sente seguro, envolve-se com interesse.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6391656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6391656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6391656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birrento / faz birra.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182112" y="6391656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ainda vive as frustrações com intensidade, o que é próprio da idade; com a mediação do adulto, tem conseguido se reorganizar.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7159752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7159752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7159752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não consegue...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182112" y="7159752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tem começado a... / Com o apoio do adulto, Fulano tem...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7927848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7927848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7927848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tem atraso na fala.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182112" y="7927848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se comunica principalmente por... A equipe tem ampliado as oportunidades de conversa. (Preocupações: registre fatos e converse com a coordenação.)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8695944"/>
            <a:ext cx="2331720" cy="676656"/>
          </a:xfrm>
          <a:prstGeom prst="roundRect">
            <a:avLst>
              <a:gd name="adj" fmla="val 16216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8695944"/>
            <a:ext cx="3995928" cy="676656"/>
          </a:xfrm>
          <a:prstGeom prst="roundRect">
            <a:avLst>
              <a:gd name="adj" fmla="val 1621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" y="8695944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é o mais esperto da turma.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3182112" y="8695944"/>
            <a:ext cx="3666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Fulano demonstra grande curiosidade e resolve desafios com criatividade. (Nunca compare crianças.)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96012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Regra de ouro: descreva o que a criança FAZ, nunca o que ela "É". Mais trocas no Banco de Frases.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ATENÇÃO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Os 10 erros mais comuns (e como evitar)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28216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Copiar o mesmo texto para várias crianças trocando só o nome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78024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50008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Começar frases com "não": "não fala", "não anda", "não come"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27832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099816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rótulos: agressivo, tímido, preguiçoso, hiperativo, birrento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77640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849624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Comparar a criança com colegas ou com "o esperado para a idade"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27448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599432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Escrever hipóteses de diagnóstico ou termos clínicos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477256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349240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Listar atividades da turma em vez de falar da criança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099048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6227064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6227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6099048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adjetivos vagos sem fatos: "é ótimo", "se desenvolveu bem"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6848856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6976872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6976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6848856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Expor conflitos com a família ou situações íntimas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7598664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7726680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7726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7598664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Esquecer os cuidados (alimentação, sono, higiene): na creche, eles são aprendizagem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8348472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8476488"/>
            <a:ext cx="402336" cy="40233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8476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8348472"/>
            <a:ext cx="5504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Terminar sem apontar próximos passos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9235440"/>
            <a:ext cx="6464808" cy="914400"/>
          </a:xfrm>
          <a:prstGeom prst="roundRect">
            <a:avLst>
              <a:gd name="adj" fmla="val 18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" y="9235440"/>
            <a:ext cx="5824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Usou o banco de frases? Ótimo. Agora acrescente em cada bloco um fato ou uma fala real da criança. É isso que torna cada relatório único.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CUIDADO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Situações delicadas: como escrever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Descreva fatos, nunca rótulos. Mostre que a situação está sendo acompanhada e qual é o próximo passo. Frases prontas para cada caso estão no Banco de Frases.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011" y="2507651"/>
            <a:ext cx="215067" cy="215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24231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Mordidas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98648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Morder é comum entre 1 e 3 anos: a criança ainda não tem palavras suficientes para expressar frustração ou desejo. Nunca use "agressivo". Descreva o contexto e a mediação.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95344" y="2240280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78224" y="2423160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715" y="2507651"/>
            <a:ext cx="215067" cy="215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24231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Choro na despedida / separação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078224" y="2898648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choro na separação é sinal de vínculo, não de problema. Mostre a evolução e o que ajuda a criança.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4242816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4425696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1" y="4510187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07008" y="442569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Conflitos e disputas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4901184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Disputas fazem parte da convivência entre crianças pequenas. Fale da mediação e dos avanços, não de "bater" ou "brigar".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895344" y="4242816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078224" y="4425696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715" y="4510187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53712" y="442569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que ainda não fala (ou fala pouco)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078224" y="4901184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Descreva TODAS as formas de comunicação da criança. Se houver preocupação real, registre fatos e converse com a coordenação antes de escrever; o relatório não é lugar de diagnóstico.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6245352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" y="6428232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11" y="6512723"/>
            <a:ext cx="215067" cy="215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07008" y="642823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que ainda não anda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6903720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tempo de cada criança para andar varia bastante. Descreva como ela se desloca e explora.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895344" y="6245352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078224" y="6428232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715" y="6512723"/>
            <a:ext cx="215067" cy="21506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53712" y="642823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Faltas frequentes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078224" y="6903720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Registre o impacto na continuidade, sem culpabilizar a família.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548640" y="8247888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31520" y="8430768"/>
            <a:ext cx="384048" cy="38404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11" y="8515259"/>
            <a:ext cx="215067" cy="21506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207008" y="8430768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Sinais de atenção (sem diagnosticar)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731520" y="8906256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você observou algo que preocupa, NÃO escreva hipóteses de diagnóstico ("parece autista", "tem TDAH", "atraso"). Registre fatos com datas em sua ficha, converse com a coordenação e combine com ela como e quando conversar com a família. No relatório, descreva o que a criança faz e o que a equipe tem oferecido.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3895344" y="8247888"/>
            <a:ext cx="3118104" cy="1847088"/>
          </a:xfrm>
          <a:prstGeom prst="roundRect">
            <a:avLst>
              <a:gd name="adj" fmla="val 8911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078224" y="8430768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715" y="8515259"/>
            <a:ext cx="215067" cy="21506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553712" y="8430768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Criança com deficiência ou laudo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4078224" y="8906256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 fala da criança, não do laudo. Descreva conquistas, interesses e apoios que funcionam. Mencione o trabalho conjunto com AEE/terapeutas apenas se a família autorizou.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DESTINATÁRIO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Para a família ou para a escola?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Muitas redes pedem dois documentos: o relatório pedagógico (que vai para o prontuário) e uma devolutiva para a família. O kit traz modelos para os dois.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095244" cy="5760720"/>
          </a:xfrm>
          <a:prstGeom prst="roundRect">
            <a:avLst>
              <a:gd name="adj" fmla="val 5318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685800" cy="6858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7569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74720"/>
            <a:ext cx="2546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Relatório pedagógico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546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escola, coordenação, prontuário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1248" y="4453128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15568" y="438912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 pedagógica, clara e respeitosa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" y="5166360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15568" y="510235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Organizado pelos campos de experiência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1248" y="5879592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15568" y="5815584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Pode citar os códigos dos objetivos da BNCC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1248" y="6592824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5568" y="6528816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Mostra a intencionalidade e os próximos passos da equipe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" y="7306056"/>
            <a:ext cx="128016" cy="12801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15568" y="7242048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 documento oficial (LDB, art. 31): segue o modelo da rede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18204" y="2331720"/>
            <a:ext cx="3095244" cy="5760720"/>
          </a:xfrm>
          <a:prstGeom prst="roundRect">
            <a:avLst>
              <a:gd name="adj" fmla="val 5318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92524" y="2606040"/>
            <a:ext cx="685800" cy="6858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75691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192524" y="3474720"/>
            <a:ext cx="2546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Carta à família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192524" y="3840480"/>
            <a:ext cx="2546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devolutiva afetiva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210812" y="4453128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485132" y="4389120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 simples e calorosa, sem jargões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210812" y="5166360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485132" y="5102352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 códigos da BNCC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210812" y="5879592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485132" y="5815584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Cenas, falas e conquistas que emocionam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210812" y="6592824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485132" y="6528816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Sugestões simples para fazer em casa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210812" y="7306056"/>
            <a:ext cx="128016" cy="128016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485132" y="7242048"/>
            <a:ext cx="2272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Curta: cabe em uma página com foto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48640" y="836676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68680" y="8366760"/>
            <a:ext cx="5824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a sua rede usa um documento só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Escreva o relatório pedagógico como se a família fosse ler, porque ela vai. Use os códigos da BNCC entre parênteses, discretos, no fim das frases.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PARTE 5 · REVISÃO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Checklist antes de entregar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Imprima esta página ou deixe-a aberta ao lado enquanto revisa cada relatório.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057400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nome da criança está correto em todo o texto (inclusive onde havia [NOME])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900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807208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Há pelo menos um fato concreto ou uma fala real em cada bloco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398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557016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cinco campos de experiência aparecem ao longo do texto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897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4306824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Não há nenhuma frase começando com "não"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2395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5056632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Não há rótulos, comparações ou hipóteses de diagnóstico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989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5806440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 cuidados (alimentação, sono, higiene) estão descritos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556248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6739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6556248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texto aponta conquistas E próximos passos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7306056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74889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80160" y="7306056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linguagem é respeitosa: eu leria isso tranquilamente na frente da família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8055864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82387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80160" y="8055864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Revisei concordância de gênero (o/a) depois de trocar o nome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8805672"/>
            <a:ext cx="6464808" cy="658368"/>
          </a:xfrm>
          <a:prstGeom prst="roundRect">
            <a:avLst>
              <a:gd name="adj" fmla="val 166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8988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8A67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80160" y="8805672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Conferi o modelo exigido pela minha rede ou escola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APROFUNDAR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64808" cy="813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9.394, de 20 de dezembro de 1996. Estabelece as diretrizes e bases da educação nacional (com redação da Lei nº 12.796/2013).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Conselho Nacional de Educação. Câmara de Educação Básica. Resolução nº 5, de 17 de dezembro de 2009. Fixa as Diretrizes Curriculares Nacionais para a Educação Infantil.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Educação. Base Nacional Comum Curricular: Educação é a Base. Brasília: MEC, 2017.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Educação. Indicadores da Qualidade na Educação Infantil. Brasília: MEC/SEB, 2009.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Educação. Práticas cotidianas na Educação Infantil: bases para a reflexão sobre as orientações curriculares. Brasília: MEC/SEB, 2009.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Saúde. Caderneta da Criança. Brasília: Ministério da Saúde (edição vigente).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CENTERS FOR DISEASE CONTROL AND PREVENTION (CDC). Learn the Signs. Act Early: developmental milestones. Atlanta: CDC.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EDWARDS, C.; GANDINI, L.; FORMAN, G. As cem linguagens da criança: a abordagem de Reggio Emilia na educação da primeira infância. Porto Alegre: Artmed.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FALK, Judit (org.). Educar os três primeiros anos: a experiência de Lóczy. Araraquara: Junqueira &amp; Marin.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Paulo. Afinal, o que os bebês fazem no berçário? Comunicação, autonomia e saber-fazer de bebês em um contexto de vida coletiva. Porto Alegre: Penso, 2015.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Jussara. Avaliação e educação infantil: um olhar sensível e reflexivo sobre a criança. Porto Alegre: Mediação.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PIAGET, Jean. O nascimento da inteligência na criança. Rio de Janeiro: Zahar.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VYGOTSKY, Lev S. A formação social da mente. São Paulo: Martins Fontes.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WALLON, Henri. A evolução psicológica da criança. São Paulo: Martins Fontes.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Guia pedagógico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Cada relatório é a história de uma criança contada por quem a acompanhou de perto.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Obrigada por chegar até aqui. As frases e os modelos deste kit são pontos de partida: o que torna o relatório verdadeiro é o seu olhar, com os fatos, as falas e as conquistas que só você presenciou.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9.394/1996 (LDB), art. 31, com redação da Lei nº 12.796/2013.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Indicadores da Qualidade na Educação Infantil.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Saúde. Caderneta da Criança (edição vigente).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CDC (Centers for Disease Control and Prevention, EUA). Learn the Signs. Act Early: marcos do desenvolvimento.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EDWARDS, C.; GANDINI, L.; FORMAN, G. As cem linguagens da criança. Porto Alegre: Artmed.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P. Afinal, o que os bebês fazem no berçário? Porto Alegre: Penso, 2015.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FALK, J. (org.). Educar os três primeiros anos: a experiência de Lóczy. Araraquara: Junqueira &amp; Marin.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PIAGET, J.; VYGOTSKY, L. S.; WALLON, H. (obras citadas nas Referências do Guia Pedagógico).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lista completa e comentada está na página de Referências deste guia.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Pedagógico · Kit Relatórios da Creche</dc:title>
  <dc:subject>PptxGenJS Presentation</dc:subject>
  <dc:creator>Kit Relatórios da Creche</dc:creator>
  <cp:lastModifiedBy>Kit Relatórios da Creche</cp:lastModifiedBy>
  <cp:revision>1</cp:revision>
  <dcterms:created xsi:type="dcterms:W3CDTF">2026-10-14T15:52:35Z</dcterms:created>
  <dcterms:modified xsi:type="dcterms:W3CDTF">2026-10-14T15:52:35Z</dcterms:modified>
</cp:coreProperties>
</file>