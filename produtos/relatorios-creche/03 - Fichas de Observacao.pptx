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" id="{a76fe905-b75d-24b3-e02d-a38df2bef528}">
          <p14:sldIdLst>
            <p14:sldId id="256"/>
          </p14:sldIdLst>
        </p14:section>
        <p14:section name="Fichas" id="{85292ec2-ce71-0d05-b1f2-a3b860306da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Encerramento" id="{6093d67e-2b7c-f95c-fb0b-3e6c051485b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914400"/>
            <a:ext cx="914400" cy="91440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88736" y="1188720"/>
            <a:ext cx="585216" cy="585216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0" y="2048256"/>
            <a:ext cx="658368" cy="658368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71616" y="2011680"/>
            <a:ext cx="438912" cy="438912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426464"/>
            <a:ext cx="365760" cy="36576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206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5720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Fichas de observação e registro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00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Sete fichas para o dia a dia da creche. Imprima quantas precisar ou preencha direto no Canva.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74523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· Registro diário das crianças-foco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 · Rodízio semanal da turma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· Ficha individual por campo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· Acompanhamento dos cuidados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· Conquistas e marcos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· Entrevista de acolhimento da família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· Roteiro para montar o relatório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12648"/>
            <a:ext cx="822960" cy="8229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793699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669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786384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Registro diário das crianças-foco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Escolha 4 ou 5 crianças por dia. Anote uma cena, uma fala e os campos envolvidos. Leva 5 minutos.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146304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86000" y="182880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286000" y="2286000"/>
            <a:ext cx="219456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54880" y="1828800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MOMENTO DA ROTINA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54880" y="2286000"/>
            <a:ext cx="225856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560320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26974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731520" y="3108960"/>
            <a:ext cx="16002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F6F5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96112" y="33649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EO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1115568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2FA5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80160" y="33649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CG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1499616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9A2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664208" y="33649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TS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883664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3F86D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048256" y="33649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EF</a:t>
            </a:r>
            <a:endParaRPr lang="en-US" sz="700" dirty="0"/>
          </a:p>
        </p:txBody>
      </p:sp>
      <p:sp>
        <p:nvSpPr>
          <p:cNvPr id="25" name="Shape 22"/>
          <p:cNvSpPr/>
          <p:nvPr/>
        </p:nvSpPr>
        <p:spPr>
          <a:xfrm>
            <a:off x="2267712" y="338328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8A67C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432304" y="336499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ET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514600" y="2697480"/>
            <a:ext cx="0" cy="1143000"/>
          </a:xfrm>
          <a:prstGeom prst="line">
            <a:avLst/>
          </a:prstGeom>
          <a:noFill/>
          <a:ln w="12700">
            <a:solidFill>
              <a:srgbClr val="E6E2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651760" y="2697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ACONTECEU (cena)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2651760" y="3108960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651760" y="3410712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651760" y="35844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DA CRIANÇA: "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4069080" y="3767328"/>
            <a:ext cx="276148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4114800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1520" y="4251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31520" y="4663440"/>
            <a:ext cx="16002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31520" y="4937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F6F5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6112" y="49194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EO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1115568" y="4937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2FA58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280160" y="49194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CG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1499616" y="4937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9A21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664208" y="49194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TS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1883664" y="4937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3F86D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048256" y="49194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EF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2267712" y="493776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8A67C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432304" y="491947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ET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2514600" y="4251960"/>
            <a:ext cx="0" cy="1143000"/>
          </a:xfrm>
          <a:prstGeom prst="line">
            <a:avLst/>
          </a:prstGeom>
          <a:noFill/>
          <a:ln w="12700">
            <a:solidFill>
              <a:srgbClr val="E6E2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651760" y="4251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ACONTECEU (cena)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2651760" y="4663440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651760" y="4965192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651760" y="5138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DA CRIANÇA: "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069080" y="5321808"/>
            <a:ext cx="276148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48640" y="5669280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31520" y="58064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731520" y="6217920"/>
            <a:ext cx="16002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31520" y="6492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F6F57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96112" y="647395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EO</a:t>
            </a:r>
            <a:endParaRPr lang="en-US" sz="700" dirty="0"/>
          </a:p>
        </p:txBody>
      </p:sp>
      <p:sp>
        <p:nvSpPr>
          <p:cNvPr id="57" name="Shape 54"/>
          <p:cNvSpPr/>
          <p:nvPr/>
        </p:nvSpPr>
        <p:spPr>
          <a:xfrm>
            <a:off x="1115568" y="6492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2FA587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1280160" y="647395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CG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1499616" y="6492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9A21F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1664208" y="647395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TS</a:t>
            </a:r>
            <a:endParaRPr lang="en-US" sz="700" dirty="0"/>
          </a:p>
        </p:txBody>
      </p:sp>
      <p:sp>
        <p:nvSpPr>
          <p:cNvPr id="61" name="Shape 58"/>
          <p:cNvSpPr/>
          <p:nvPr/>
        </p:nvSpPr>
        <p:spPr>
          <a:xfrm>
            <a:off x="1883664" y="6492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3F86D6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2048256" y="647395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EF</a:t>
            </a:r>
            <a:endParaRPr lang="en-US" sz="700" dirty="0"/>
          </a:p>
        </p:txBody>
      </p:sp>
      <p:sp>
        <p:nvSpPr>
          <p:cNvPr id="63" name="Shape 60"/>
          <p:cNvSpPr/>
          <p:nvPr/>
        </p:nvSpPr>
        <p:spPr>
          <a:xfrm>
            <a:off x="2267712" y="649224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8A67C9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2432304" y="647395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ET</a:t>
            </a:r>
            <a:endParaRPr lang="en-US" sz="700" dirty="0"/>
          </a:p>
        </p:txBody>
      </p:sp>
      <p:sp>
        <p:nvSpPr>
          <p:cNvPr id="65" name="Shape 62"/>
          <p:cNvSpPr/>
          <p:nvPr/>
        </p:nvSpPr>
        <p:spPr>
          <a:xfrm>
            <a:off x="2514600" y="5806440"/>
            <a:ext cx="0" cy="1143000"/>
          </a:xfrm>
          <a:prstGeom prst="line">
            <a:avLst/>
          </a:prstGeom>
          <a:noFill/>
          <a:ln w="12700">
            <a:solidFill>
              <a:srgbClr val="E6E2EF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2651760" y="5806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ACONTECEU (cena)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2651760" y="6217920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2651760" y="6519672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2651760" y="66934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DA CRIANÇA: "</a:t>
            </a:r>
            <a:endParaRPr lang="en-US" sz="750" dirty="0"/>
          </a:p>
        </p:txBody>
      </p:sp>
      <p:sp>
        <p:nvSpPr>
          <p:cNvPr id="70" name="Shape 67"/>
          <p:cNvSpPr/>
          <p:nvPr/>
        </p:nvSpPr>
        <p:spPr>
          <a:xfrm>
            <a:off x="4069080" y="6876288"/>
            <a:ext cx="276148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48640" y="7223760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72" name="Text 69"/>
          <p:cNvSpPr txBox="1"/>
          <p:nvPr/>
        </p:nvSpPr>
        <p:spPr>
          <a:xfrm>
            <a:off x="731520" y="73609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750" dirty="0"/>
          </a:p>
        </p:txBody>
      </p:sp>
      <p:sp>
        <p:nvSpPr>
          <p:cNvPr id="73" name="Shape 70"/>
          <p:cNvSpPr/>
          <p:nvPr/>
        </p:nvSpPr>
        <p:spPr>
          <a:xfrm>
            <a:off x="731520" y="7772400"/>
            <a:ext cx="16002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731520" y="80467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F6F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896112" y="80284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EO</a:t>
            </a:r>
            <a:endParaRPr lang="en-US" sz="700" dirty="0"/>
          </a:p>
        </p:txBody>
      </p:sp>
      <p:sp>
        <p:nvSpPr>
          <p:cNvPr id="76" name="Shape 73"/>
          <p:cNvSpPr/>
          <p:nvPr/>
        </p:nvSpPr>
        <p:spPr>
          <a:xfrm>
            <a:off x="1115568" y="80467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2FA587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1280160" y="80284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CG</a:t>
            </a:r>
            <a:endParaRPr lang="en-US" sz="700" dirty="0"/>
          </a:p>
        </p:txBody>
      </p:sp>
      <p:sp>
        <p:nvSpPr>
          <p:cNvPr id="78" name="Shape 75"/>
          <p:cNvSpPr/>
          <p:nvPr/>
        </p:nvSpPr>
        <p:spPr>
          <a:xfrm>
            <a:off x="1499616" y="80467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9A21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664208" y="80284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TS</a:t>
            </a:r>
            <a:endParaRPr lang="en-US" sz="700" dirty="0"/>
          </a:p>
        </p:txBody>
      </p:sp>
      <p:sp>
        <p:nvSpPr>
          <p:cNvPr id="80" name="Shape 77"/>
          <p:cNvSpPr/>
          <p:nvPr/>
        </p:nvSpPr>
        <p:spPr>
          <a:xfrm>
            <a:off x="1883664" y="80467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3F86D6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2048256" y="80284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EF</a:t>
            </a:r>
            <a:endParaRPr lang="en-US" sz="700" dirty="0"/>
          </a:p>
        </p:txBody>
      </p:sp>
      <p:sp>
        <p:nvSpPr>
          <p:cNvPr id="82" name="Shape 79"/>
          <p:cNvSpPr/>
          <p:nvPr/>
        </p:nvSpPr>
        <p:spPr>
          <a:xfrm>
            <a:off x="2267712" y="804672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8A67C9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2432304" y="802843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ET</a:t>
            </a:r>
            <a:endParaRPr lang="en-US" sz="700" dirty="0"/>
          </a:p>
        </p:txBody>
      </p:sp>
      <p:sp>
        <p:nvSpPr>
          <p:cNvPr id="84" name="Shape 81"/>
          <p:cNvSpPr/>
          <p:nvPr/>
        </p:nvSpPr>
        <p:spPr>
          <a:xfrm>
            <a:off x="2514600" y="7360920"/>
            <a:ext cx="0" cy="1143000"/>
          </a:xfrm>
          <a:prstGeom prst="line">
            <a:avLst/>
          </a:prstGeom>
          <a:noFill/>
          <a:ln w="12700">
            <a:solidFill>
              <a:srgbClr val="E6E2EF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2651760" y="7360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ACONTECEU (cena)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2651760" y="7772400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2651760" y="8074152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651760" y="8247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DA CRIANÇA: "</a:t>
            </a:r>
            <a:endParaRPr lang="en-US" sz="750" dirty="0"/>
          </a:p>
        </p:txBody>
      </p:sp>
      <p:sp>
        <p:nvSpPr>
          <p:cNvPr id="89" name="Shape 86"/>
          <p:cNvSpPr/>
          <p:nvPr/>
        </p:nvSpPr>
        <p:spPr>
          <a:xfrm>
            <a:off x="4069080" y="8430768"/>
            <a:ext cx="276148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48640" y="8778240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F6F4FA"/>
          </a:solidFill>
          <a:ln w="12700">
            <a:solidFill>
              <a:srgbClr val="F6F4F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731520" y="89154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750" dirty="0"/>
          </a:p>
        </p:txBody>
      </p:sp>
      <p:sp>
        <p:nvSpPr>
          <p:cNvPr id="92" name="Shape 89"/>
          <p:cNvSpPr/>
          <p:nvPr/>
        </p:nvSpPr>
        <p:spPr>
          <a:xfrm>
            <a:off x="731520" y="9326880"/>
            <a:ext cx="16002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731520" y="9601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F6F57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896112" y="9582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EO</a:t>
            </a:r>
            <a:endParaRPr lang="en-US" sz="700" dirty="0"/>
          </a:p>
        </p:txBody>
      </p:sp>
      <p:sp>
        <p:nvSpPr>
          <p:cNvPr id="95" name="Shape 92"/>
          <p:cNvSpPr/>
          <p:nvPr/>
        </p:nvSpPr>
        <p:spPr>
          <a:xfrm>
            <a:off x="1115568" y="9601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2FA58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1280160" y="9582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CG</a:t>
            </a:r>
            <a:endParaRPr lang="en-US" sz="700" dirty="0"/>
          </a:p>
        </p:txBody>
      </p:sp>
      <p:sp>
        <p:nvSpPr>
          <p:cNvPr id="97" name="Shape 94"/>
          <p:cNvSpPr/>
          <p:nvPr/>
        </p:nvSpPr>
        <p:spPr>
          <a:xfrm>
            <a:off x="1499616" y="9601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E9A21F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1664208" y="9582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TS</a:t>
            </a:r>
            <a:endParaRPr lang="en-US" sz="700" dirty="0"/>
          </a:p>
        </p:txBody>
      </p:sp>
      <p:sp>
        <p:nvSpPr>
          <p:cNvPr id="99" name="Shape 96"/>
          <p:cNvSpPr/>
          <p:nvPr/>
        </p:nvSpPr>
        <p:spPr>
          <a:xfrm>
            <a:off x="1883664" y="9601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3F86D6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048256" y="9582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EF</a:t>
            </a:r>
            <a:endParaRPr lang="en-US" sz="700" dirty="0"/>
          </a:p>
        </p:txBody>
      </p:sp>
      <p:sp>
        <p:nvSpPr>
          <p:cNvPr id="101" name="Shape 98"/>
          <p:cNvSpPr/>
          <p:nvPr/>
        </p:nvSpPr>
        <p:spPr>
          <a:xfrm>
            <a:off x="2267712" y="9601200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5875">
            <a:solidFill>
              <a:srgbClr val="8A67C9"/>
            </a:solidFill>
            <a:prstDash val="solid"/>
          </a:ln>
        </p:spPr>
      </p:sp>
      <p:sp>
        <p:nvSpPr>
          <p:cNvPr id="102" name="Text 99"/>
          <p:cNvSpPr txBox="1"/>
          <p:nvPr/>
        </p:nvSpPr>
        <p:spPr>
          <a:xfrm>
            <a:off x="2432304" y="9582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ET</a:t>
            </a:r>
            <a:endParaRPr lang="en-US" sz="700" dirty="0"/>
          </a:p>
        </p:txBody>
      </p:sp>
      <p:sp>
        <p:nvSpPr>
          <p:cNvPr id="103" name="Shape 100"/>
          <p:cNvSpPr/>
          <p:nvPr/>
        </p:nvSpPr>
        <p:spPr>
          <a:xfrm>
            <a:off x="2514600" y="8915400"/>
            <a:ext cx="0" cy="1143000"/>
          </a:xfrm>
          <a:prstGeom prst="line">
            <a:avLst/>
          </a:prstGeom>
          <a:noFill/>
          <a:ln w="12700">
            <a:solidFill>
              <a:srgbClr val="E6E2EF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2651760" y="89154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 QUE ACONTECEU (cena)</a:t>
            </a:r>
            <a:endParaRPr lang="en-US" sz="750" dirty="0"/>
          </a:p>
        </p:txBody>
      </p:sp>
      <p:sp>
        <p:nvSpPr>
          <p:cNvPr id="105" name="Shape 102"/>
          <p:cNvSpPr/>
          <p:nvPr/>
        </p:nvSpPr>
        <p:spPr>
          <a:xfrm>
            <a:off x="2651760" y="9326880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2651760" y="9628632"/>
            <a:ext cx="4178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107" name="Text 104"/>
          <p:cNvSpPr txBox="1"/>
          <p:nvPr/>
        </p:nvSpPr>
        <p:spPr>
          <a:xfrm>
            <a:off x="2651760" y="980236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DA CRIANÇA: "</a:t>
            </a:r>
            <a:endParaRPr lang="en-US" sz="750" dirty="0"/>
          </a:p>
        </p:txBody>
      </p:sp>
      <p:sp>
        <p:nvSpPr>
          <p:cNvPr id="108" name="Shape 105"/>
          <p:cNvSpPr/>
          <p:nvPr/>
        </p:nvSpPr>
        <p:spPr>
          <a:xfrm>
            <a:off x="4069080" y="9985248"/>
            <a:ext cx="276148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Ficha 1 · Registro diário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12648"/>
            <a:ext cx="822960" cy="82296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793699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669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786384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Rodízio semanal da turma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Marque o dia em que cada criança foi criança-foco. Ninguém fica sem registro: confira a coluna "Total" no fim da semana.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SEMANA DE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201168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34640" y="1828800"/>
            <a:ext cx="4178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834640" y="2286000"/>
            <a:ext cx="417880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560320"/>
            <a:ext cx="6464808" cy="411480"/>
          </a:xfrm>
          <a:prstGeom prst="roundRect">
            <a:avLst>
              <a:gd name="adj" fmla="val 17778"/>
            </a:avLst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560320"/>
            <a:ext cx="219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#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987552" y="2560320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3154680" y="25603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Seg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3813048" y="25603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Ter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4471416" y="25603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5129784" y="25603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788152" y="2560320"/>
            <a:ext cx="512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Sex</a:t>
            </a:r>
            <a:endParaRPr lang="en-US" sz="850" dirty="0"/>
          </a:p>
        </p:txBody>
      </p:sp>
      <p:sp>
        <p:nvSpPr>
          <p:cNvPr id="20" name="Text 17"/>
          <p:cNvSpPr txBox="1"/>
          <p:nvPr/>
        </p:nvSpPr>
        <p:spPr>
          <a:xfrm>
            <a:off x="6446520" y="2560320"/>
            <a:ext cx="493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Total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48640" y="2971800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1792" y="2971800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14400" y="297180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81528" y="297180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39896" y="297180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98264" y="297180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056632" y="297180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15000" y="297180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73368" y="297180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3310128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1792" y="3310128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14400" y="331012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081528" y="331012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739896" y="331012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98264" y="331012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56632" y="331012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715000" y="331012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373368" y="331012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8640" y="3648456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1792" y="3648456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914400" y="364845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081528" y="364845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739896" y="364845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398264" y="364845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056632" y="364845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715000" y="364845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73368" y="364845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8640" y="3986784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21792" y="3986784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914400" y="398678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081528" y="398678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739896" y="398678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4398264" y="398678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056632" y="398678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5715000" y="398678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373368" y="398678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48640" y="4325112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21792" y="4325112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914400" y="432511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081528" y="432511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739896" y="432511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398264" y="432511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056632" y="432511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715000" y="432511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6373368" y="432511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48640" y="4663440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21792" y="4663440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914400" y="466344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081528" y="466344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3739896" y="466344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98264" y="466344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056632" y="466344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715000" y="466344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373368" y="466344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48640" y="5001768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621792" y="5001768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914400" y="500176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3081528" y="500176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739896" y="500176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4398264" y="500176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5056632" y="500176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5715000" y="500176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6373368" y="500176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48640" y="5340096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21792" y="5340096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914400" y="534009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3081528" y="534009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3739896" y="534009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398264" y="534009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056632" y="534009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715000" y="534009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6373368" y="534009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48640" y="5678424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21792" y="5678424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</a:t>
            </a:r>
            <a:endParaRPr lang="en-US" sz="850" dirty="0"/>
          </a:p>
        </p:txBody>
      </p:sp>
      <p:sp>
        <p:nvSpPr>
          <p:cNvPr id="95" name="Shape 92"/>
          <p:cNvSpPr/>
          <p:nvPr/>
        </p:nvSpPr>
        <p:spPr>
          <a:xfrm>
            <a:off x="914400" y="567842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3081528" y="567842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739896" y="567842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4398264" y="567842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5056632" y="567842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5715000" y="567842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373368" y="567842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" y="6016752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21792" y="6016752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914400" y="601675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3081528" y="601675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3739896" y="601675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4398264" y="601675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5056632" y="601675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5715000" y="601675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373368" y="601675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548640" y="6355080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21792" y="6355080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914400" y="635508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3081528" y="635508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3739896" y="635508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4398264" y="635508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5056632" y="635508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5715000" y="635508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6373368" y="635508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48640" y="6693408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21" name="Text 118"/>
          <p:cNvSpPr txBox="1"/>
          <p:nvPr/>
        </p:nvSpPr>
        <p:spPr>
          <a:xfrm>
            <a:off x="621792" y="6693408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12</a:t>
            </a:r>
            <a:endParaRPr lang="en-US" sz="850" dirty="0"/>
          </a:p>
        </p:txBody>
      </p:sp>
      <p:sp>
        <p:nvSpPr>
          <p:cNvPr id="122" name="Shape 119"/>
          <p:cNvSpPr/>
          <p:nvPr/>
        </p:nvSpPr>
        <p:spPr>
          <a:xfrm>
            <a:off x="914400" y="669340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81528" y="669340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3739896" y="669340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4398264" y="669340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5056632" y="669340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5715000" y="669340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6373368" y="669340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548640" y="7031736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621792" y="7031736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13</a:t>
            </a:r>
            <a:endParaRPr lang="en-US" sz="850" dirty="0"/>
          </a:p>
        </p:txBody>
      </p:sp>
      <p:sp>
        <p:nvSpPr>
          <p:cNvPr id="131" name="Shape 128"/>
          <p:cNvSpPr/>
          <p:nvPr/>
        </p:nvSpPr>
        <p:spPr>
          <a:xfrm>
            <a:off x="914400" y="703173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3081528" y="703173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739896" y="703173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4398264" y="703173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5056632" y="703173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5715000" y="703173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6373368" y="703173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548640" y="7370064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39" name="Text 136"/>
          <p:cNvSpPr txBox="1"/>
          <p:nvPr/>
        </p:nvSpPr>
        <p:spPr>
          <a:xfrm>
            <a:off x="621792" y="7370064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14</a:t>
            </a:r>
            <a:endParaRPr lang="en-US" sz="850" dirty="0"/>
          </a:p>
        </p:txBody>
      </p:sp>
      <p:sp>
        <p:nvSpPr>
          <p:cNvPr id="140" name="Shape 137"/>
          <p:cNvSpPr/>
          <p:nvPr/>
        </p:nvSpPr>
        <p:spPr>
          <a:xfrm>
            <a:off x="914400" y="737006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3081528" y="737006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3739896" y="737006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4398264" y="737006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056632" y="737006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715000" y="737006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6373368" y="737006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548640" y="7708392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48" name="Text 145"/>
          <p:cNvSpPr txBox="1"/>
          <p:nvPr/>
        </p:nvSpPr>
        <p:spPr>
          <a:xfrm>
            <a:off x="621792" y="7708392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15</a:t>
            </a:r>
            <a:endParaRPr lang="en-US" sz="850" dirty="0"/>
          </a:p>
        </p:txBody>
      </p:sp>
      <p:sp>
        <p:nvSpPr>
          <p:cNvPr id="149" name="Shape 146"/>
          <p:cNvSpPr/>
          <p:nvPr/>
        </p:nvSpPr>
        <p:spPr>
          <a:xfrm>
            <a:off x="914400" y="770839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3081528" y="770839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3739896" y="770839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4398264" y="770839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5056632" y="770839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5715000" y="770839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6373368" y="770839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48640" y="8046720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57" name="Text 154"/>
          <p:cNvSpPr txBox="1"/>
          <p:nvPr/>
        </p:nvSpPr>
        <p:spPr>
          <a:xfrm>
            <a:off x="621792" y="8046720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16</a:t>
            </a:r>
            <a:endParaRPr lang="en-US" sz="850" dirty="0"/>
          </a:p>
        </p:txBody>
      </p:sp>
      <p:sp>
        <p:nvSpPr>
          <p:cNvPr id="158" name="Shape 155"/>
          <p:cNvSpPr/>
          <p:nvPr/>
        </p:nvSpPr>
        <p:spPr>
          <a:xfrm>
            <a:off x="914400" y="804672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3081528" y="804672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3739896" y="804672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4398264" y="804672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2" name="Shape 159"/>
          <p:cNvSpPr/>
          <p:nvPr/>
        </p:nvSpPr>
        <p:spPr>
          <a:xfrm>
            <a:off x="5056632" y="804672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5715000" y="804672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6373368" y="8046720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48640" y="8385048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66" name="Text 163"/>
          <p:cNvSpPr txBox="1"/>
          <p:nvPr/>
        </p:nvSpPr>
        <p:spPr>
          <a:xfrm>
            <a:off x="621792" y="8385048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17</a:t>
            </a:r>
            <a:endParaRPr lang="en-US" sz="850" dirty="0"/>
          </a:p>
        </p:txBody>
      </p:sp>
      <p:sp>
        <p:nvSpPr>
          <p:cNvPr id="167" name="Shape 164"/>
          <p:cNvSpPr/>
          <p:nvPr/>
        </p:nvSpPr>
        <p:spPr>
          <a:xfrm>
            <a:off x="914400" y="838504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3081528" y="838504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3739896" y="838504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4398264" y="838504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5056632" y="838504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5715000" y="838504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373368" y="8385048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548640" y="8723376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75" name="Text 172"/>
          <p:cNvSpPr txBox="1"/>
          <p:nvPr/>
        </p:nvSpPr>
        <p:spPr>
          <a:xfrm>
            <a:off x="621792" y="8723376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18</a:t>
            </a:r>
            <a:endParaRPr lang="en-US" sz="850" dirty="0"/>
          </a:p>
        </p:txBody>
      </p:sp>
      <p:sp>
        <p:nvSpPr>
          <p:cNvPr id="176" name="Shape 173"/>
          <p:cNvSpPr/>
          <p:nvPr/>
        </p:nvSpPr>
        <p:spPr>
          <a:xfrm>
            <a:off x="914400" y="872337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3081528" y="872337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3739896" y="872337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4398264" y="872337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056632" y="872337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5715000" y="872337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6373368" y="8723376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548640" y="9061704"/>
            <a:ext cx="6464808" cy="33832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84" name="Text 181"/>
          <p:cNvSpPr txBox="1"/>
          <p:nvPr/>
        </p:nvSpPr>
        <p:spPr>
          <a:xfrm>
            <a:off x="621792" y="9061704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19</a:t>
            </a:r>
            <a:endParaRPr lang="en-US" sz="850" dirty="0"/>
          </a:p>
        </p:txBody>
      </p:sp>
      <p:sp>
        <p:nvSpPr>
          <p:cNvPr id="185" name="Shape 182"/>
          <p:cNvSpPr/>
          <p:nvPr/>
        </p:nvSpPr>
        <p:spPr>
          <a:xfrm>
            <a:off x="914400" y="906170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3081528" y="906170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7" name="Shape 184"/>
          <p:cNvSpPr/>
          <p:nvPr/>
        </p:nvSpPr>
        <p:spPr>
          <a:xfrm>
            <a:off x="3739896" y="906170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8" name="Shape 185"/>
          <p:cNvSpPr/>
          <p:nvPr/>
        </p:nvSpPr>
        <p:spPr>
          <a:xfrm>
            <a:off x="4398264" y="906170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89" name="Shape 186"/>
          <p:cNvSpPr/>
          <p:nvPr/>
        </p:nvSpPr>
        <p:spPr>
          <a:xfrm>
            <a:off x="5056632" y="906170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715000" y="906170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1" name="Shape 188"/>
          <p:cNvSpPr/>
          <p:nvPr/>
        </p:nvSpPr>
        <p:spPr>
          <a:xfrm>
            <a:off x="6373368" y="9061704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2" name="Shape 189"/>
          <p:cNvSpPr/>
          <p:nvPr/>
        </p:nvSpPr>
        <p:spPr>
          <a:xfrm>
            <a:off x="548640" y="9400032"/>
            <a:ext cx="6464808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93" name="Text 190"/>
          <p:cNvSpPr txBox="1"/>
          <p:nvPr/>
        </p:nvSpPr>
        <p:spPr>
          <a:xfrm>
            <a:off x="621792" y="9400032"/>
            <a:ext cx="219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20</a:t>
            </a:r>
            <a:endParaRPr lang="en-US" sz="850" dirty="0"/>
          </a:p>
        </p:txBody>
      </p:sp>
      <p:sp>
        <p:nvSpPr>
          <p:cNvPr id="194" name="Shape 191"/>
          <p:cNvSpPr/>
          <p:nvPr/>
        </p:nvSpPr>
        <p:spPr>
          <a:xfrm>
            <a:off x="914400" y="940003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3081528" y="940003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6" name="Shape 193"/>
          <p:cNvSpPr/>
          <p:nvPr/>
        </p:nvSpPr>
        <p:spPr>
          <a:xfrm>
            <a:off x="3739896" y="940003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7" name="Shape 194"/>
          <p:cNvSpPr/>
          <p:nvPr/>
        </p:nvSpPr>
        <p:spPr>
          <a:xfrm>
            <a:off x="4398264" y="940003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8" name="Shape 195"/>
          <p:cNvSpPr/>
          <p:nvPr/>
        </p:nvSpPr>
        <p:spPr>
          <a:xfrm>
            <a:off x="5056632" y="940003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9" name="Shape 196"/>
          <p:cNvSpPr/>
          <p:nvPr/>
        </p:nvSpPr>
        <p:spPr>
          <a:xfrm>
            <a:off x="5715000" y="940003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6373368" y="9400032"/>
            <a:ext cx="0" cy="33832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01" name="Text 198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Ficha 2 · Rodízio semanal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12648"/>
            <a:ext cx="822960" cy="82296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793699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669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786384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Ficha individual por campo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Uma por criança no semestre. Uma vez por mês, transfira para cá os registros diários. No fim, o relatório nasce desta ficha.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292608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749040" y="2286000"/>
            <a:ext cx="164592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0" y="182880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SEMESTRE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669280" y="2286000"/>
            <a:ext cx="134416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560320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2697480"/>
            <a:ext cx="384048" cy="384048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723" y="2781971"/>
            <a:ext cx="215067" cy="21506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07008" y="2697480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EO · O eu, o outro e o nós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31520" y="316382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1371600" y="3346704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31520" y="3410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1371600" y="3593592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31520" y="36576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1371600" y="3840480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48640" y="4087368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13232" y="4224528"/>
            <a:ext cx="384048" cy="384048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723" y="4309019"/>
            <a:ext cx="215067" cy="21506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207008" y="4224528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CG · Corpo, gestos e movimentos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731520" y="46908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29" name="Shape 24"/>
          <p:cNvSpPr/>
          <p:nvPr/>
        </p:nvSpPr>
        <p:spPr>
          <a:xfrm>
            <a:off x="1371600" y="4873752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731520" y="49377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1371600" y="5120640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731520" y="51846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1371600" y="5367528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48640" y="5614416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FCF0D4"/>
          </a:solidFill>
          <a:ln w="12700">
            <a:solidFill>
              <a:srgbClr val="FCF0D4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13232" y="5751576"/>
            <a:ext cx="384048" cy="384048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23" y="5836067"/>
            <a:ext cx="215067" cy="21506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207008" y="5751576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TS · Traços, sons, cores e formas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731520" y="62179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1371600" y="6400800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731520" y="64648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41" name="Shape 35"/>
          <p:cNvSpPr/>
          <p:nvPr/>
        </p:nvSpPr>
        <p:spPr>
          <a:xfrm>
            <a:off x="1371600" y="6647688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731520" y="67116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43" name="Shape 37"/>
          <p:cNvSpPr/>
          <p:nvPr/>
        </p:nvSpPr>
        <p:spPr>
          <a:xfrm>
            <a:off x="1371600" y="6894576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548640" y="7141464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713232" y="7278624"/>
            <a:ext cx="384048" cy="384048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723" y="7363115"/>
            <a:ext cx="215067" cy="215067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1207008" y="7278624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EF · Escuta, fala, pensamento e imaginação</a:t>
            </a:r>
            <a:endParaRPr lang="en-US" sz="1100" dirty="0"/>
          </a:p>
        </p:txBody>
      </p:sp>
      <p:sp>
        <p:nvSpPr>
          <p:cNvPr id="48" name="Text 41"/>
          <p:cNvSpPr txBox="1"/>
          <p:nvPr/>
        </p:nvSpPr>
        <p:spPr>
          <a:xfrm>
            <a:off x="731520" y="77449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49" name="Shape 42"/>
          <p:cNvSpPr/>
          <p:nvPr/>
        </p:nvSpPr>
        <p:spPr>
          <a:xfrm>
            <a:off x="1371600" y="7927848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0" name="Text 43"/>
          <p:cNvSpPr txBox="1"/>
          <p:nvPr/>
        </p:nvSpPr>
        <p:spPr>
          <a:xfrm>
            <a:off x="731520" y="79918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51" name="Shape 44"/>
          <p:cNvSpPr/>
          <p:nvPr/>
        </p:nvSpPr>
        <p:spPr>
          <a:xfrm>
            <a:off x="1371600" y="8174736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2" name="Text 45"/>
          <p:cNvSpPr txBox="1"/>
          <p:nvPr/>
        </p:nvSpPr>
        <p:spPr>
          <a:xfrm>
            <a:off x="731520" y="82387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53" name="Shape 46"/>
          <p:cNvSpPr/>
          <p:nvPr/>
        </p:nvSpPr>
        <p:spPr>
          <a:xfrm>
            <a:off x="1371600" y="8421624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548640" y="8668512"/>
            <a:ext cx="6464808" cy="1417320"/>
          </a:xfrm>
          <a:prstGeom prst="roundRect">
            <a:avLst>
              <a:gd name="adj" fmla="val 7742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713232" y="8805672"/>
            <a:ext cx="384048" cy="384048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5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723" y="8890163"/>
            <a:ext cx="215067" cy="215067"/>
          </a:xfrm>
          <a:prstGeom prst="rect">
            <a:avLst/>
          </a:prstGeom>
        </p:spPr>
      </p:pic>
      <p:sp>
        <p:nvSpPr>
          <p:cNvPr id="57" name="Text 49"/>
          <p:cNvSpPr txBox="1"/>
          <p:nvPr/>
        </p:nvSpPr>
        <p:spPr>
          <a:xfrm>
            <a:off x="1207008" y="8805672"/>
            <a:ext cx="5641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ET · Espaços, tempos, quantidades, relações e transformações</a:t>
            </a:r>
            <a:endParaRPr lang="en-US" sz="1100" dirty="0"/>
          </a:p>
        </p:txBody>
      </p:sp>
      <p:sp>
        <p:nvSpPr>
          <p:cNvPr id="58" name="Text 50"/>
          <p:cNvSpPr txBox="1"/>
          <p:nvPr/>
        </p:nvSpPr>
        <p:spPr>
          <a:xfrm>
            <a:off x="731520" y="927201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59" name="Shape 51"/>
          <p:cNvSpPr/>
          <p:nvPr/>
        </p:nvSpPr>
        <p:spPr>
          <a:xfrm>
            <a:off x="1371600" y="9454896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0" name="Text 52"/>
          <p:cNvSpPr txBox="1"/>
          <p:nvPr/>
        </p:nvSpPr>
        <p:spPr>
          <a:xfrm>
            <a:off x="731520" y="9518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61" name="Shape 53"/>
          <p:cNvSpPr/>
          <p:nvPr/>
        </p:nvSpPr>
        <p:spPr>
          <a:xfrm>
            <a:off x="1371600" y="9701784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2" name="Text 54"/>
          <p:cNvSpPr txBox="1"/>
          <p:nvPr/>
        </p:nvSpPr>
        <p:spPr>
          <a:xfrm>
            <a:off x="731520" y="97657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___/___</a:t>
            </a:r>
            <a:endParaRPr lang="en-US" sz="800" dirty="0"/>
          </a:p>
        </p:txBody>
      </p:sp>
      <p:sp>
        <p:nvSpPr>
          <p:cNvPr id="63" name="Shape 55"/>
          <p:cNvSpPr/>
          <p:nvPr/>
        </p:nvSpPr>
        <p:spPr>
          <a:xfrm>
            <a:off x="1371600" y="9948672"/>
            <a:ext cx="545896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64" name="Text 56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Ficha 3 · Ficha individual por campo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12648"/>
            <a:ext cx="822960" cy="822960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793699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669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786384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Acompanhamento dos cuidados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Alimentação, sono e higiene também são aprendizagem. Registre conquistas de autonomia, não só "comeu" ou "dormiu".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29184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18288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SEMANA DE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14800" y="2286000"/>
            <a:ext cx="289864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560320"/>
            <a:ext cx="6464808" cy="411480"/>
          </a:xfrm>
          <a:prstGeom prst="roundRect">
            <a:avLst>
              <a:gd name="adj" fmla="val 17778"/>
            </a:avLst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560320"/>
            <a:ext cx="539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Dia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1307592" y="2560320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Alimentação (aceitou, experimentou, autonomia)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3364992" y="2560320"/>
            <a:ext cx="1179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Sono e descanso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4690872" y="2560320"/>
            <a:ext cx="1271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Higiene, troca, desfralde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6108192" y="2560320"/>
            <a:ext cx="832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Humor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" y="2971800"/>
            <a:ext cx="6464808" cy="914400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" y="2971800"/>
            <a:ext cx="539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Seg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234440" y="29718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91840" y="29718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17720" y="29718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35040" y="29718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108192" y="2971800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☺  ☹  ☾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3886200"/>
            <a:ext cx="646480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3886200"/>
            <a:ext cx="539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1234440" y="38862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291840" y="38862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617720" y="38862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35040" y="38862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08192" y="3886200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☺  ☹  ☾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4800600"/>
            <a:ext cx="6464808" cy="914400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1792" y="4800600"/>
            <a:ext cx="539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Qua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234440" y="48006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91840" y="48006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17720" y="48006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035040" y="48006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108192" y="4800600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☺  ☹  ☾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548640" y="5715000"/>
            <a:ext cx="646480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21792" y="5715000"/>
            <a:ext cx="539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Qui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1234440" y="57150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291840" y="57150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617720" y="57150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6035040" y="57150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108192" y="5715000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☺  ☹  ☾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48640" y="6629400"/>
            <a:ext cx="6464808" cy="914400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621792" y="6629400"/>
            <a:ext cx="539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Sex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1234440" y="66294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291840" y="66294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617720" y="66294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035040" y="6629400"/>
            <a:ext cx="0" cy="91440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6108192" y="6629400"/>
            <a:ext cx="832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☺  ☹  ☾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548640" y="7772400"/>
            <a:ext cx="6464808" cy="2011680"/>
          </a:xfrm>
          <a:prstGeom prst="roundRect">
            <a:avLst>
              <a:gd name="adj" fmla="val 8182"/>
            </a:avLst>
          </a:prstGeom>
          <a:solidFill>
            <a:srgbClr val="DFEBF9"/>
          </a:solidFill>
          <a:ln w="12700">
            <a:solidFill>
              <a:srgbClr val="DFEBF9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777240" y="7909560"/>
            <a:ext cx="6007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F86D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CONQUISTAS DE AUTONOMIA DA SEMANA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777240" y="8412480"/>
            <a:ext cx="600760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77240" y="8759952"/>
            <a:ext cx="600760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77240" y="9107424"/>
            <a:ext cx="600760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777240" y="9454896"/>
            <a:ext cx="6007608" cy="0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Ficha 4 · Cuidados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EEE7F8"/>
          </a:solidFill>
          <a:ln w="12700">
            <a:solidFill>
              <a:srgbClr val="EEE7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12648"/>
            <a:ext cx="822960" cy="822960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793699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669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A67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786384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Conquistas e marcos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Anote a data das grandes conquistas. Elas dão vida ao relatório ("deu os primeiros passos em outubro, no pátio").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29184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18288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14800" y="2286000"/>
            <a:ext cx="289864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560320"/>
            <a:ext cx="6464808" cy="411480"/>
          </a:xfrm>
          <a:prstGeom prst="roundRect">
            <a:avLst>
              <a:gd name="adj" fmla="val 17778"/>
            </a:avLst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560320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Conquista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3730752" y="2560320"/>
            <a:ext cx="768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Data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645152" y="2560320"/>
            <a:ext cx="22951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Contexto / como foi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297180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Sentou sem apoio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657600" y="297180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0" y="297180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48640" y="3355848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335584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Engatinhou / arrastou-se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657600" y="335584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0" y="335584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8640" y="3739896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373989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Ficou de pé com apoio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657600" y="373989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0" y="373989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" y="4123944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" y="412394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Primeiros passos sozinho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657600" y="4123944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0" y="4123944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4507992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1792" y="450799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Primeiras palavras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3657600" y="4507992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72000" y="4507992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8640" y="4892040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1792" y="489204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Juntou duas palavras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3657600" y="489204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572000" y="489204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48640" y="5276088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21792" y="527608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Respondeu ao próprio nome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657600" y="527608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72000" y="527608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8640" y="5660136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1792" y="566013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Apontou para mostrar ou pedir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3657600" y="566013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572000" y="566013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48640" y="6044184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21792" y="604418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Comeu sozinho com a colher</a:t>
            </a:r>
            <a:endParaRPr lang="en-US" sz="850" dirty="0"/>
          </a:p>
        </p:txBody>
      </p:sp>
      <p:sp>
        <p:nvSpPr>
          <p:cNvPr id="50" name="Shape 47"/>
          <p:cNvSpPr/>
          <p:nvPr/>
        </p:nvSpPr>
        <p:spPr>
          <a:xfrm>
            <a:off x="3657600" y="6044184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572000" y="6044184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548640" y="6428232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21792" y="642823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Bebeu no copo sozinho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3657600" y="6428232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572000" y="6428232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548640" y="6812280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621792" y="681228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Pediu para ir ao banheiro</a:t>
            </a:r>
            <a:endParaRPr lang="en-US" sz="850" dirty="0"/>
          </a:p>
        </p:txBody>
      </p:sp>
      <p:sp>
        <p:nvSpPr>
          <p:cNvPr id="58" name="Shape 55"/>
          <p:cNvSpPr/>
          <p:nvPr/>
        </p:nvSpPr>
        <p:spPr>
          <a:xfrm>
            <a:off x="3657600" y="681228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72000" y="681228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48640" y="7196328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21792" y="7196328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Concluiu o desfralde diurno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3657600" y="719632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572000" y="719632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48640" y="7580376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21792" y="7580376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Brincou de faz de conta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3657600" y="758037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572000" y="758037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48640" y="7964424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621792" y="7964424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Contou um fato vivido</a:t>
            </a:r>
            <a:endParaRPr lang="en-US" sz="850" dirty="0"/>
          </a:p>
        </p:txBody>
      </p:sp>
      <p:sp>
        <p:nvSpPr>
          <p:cNvPr id="70" name="Shape 67"/>
          <p:cNvSpPr/>
          <p:nvPr/>
        </p:nvSpPr>
        <p:spPr>
          <a:xfrm>
            <a:off x="3657600" y="7964424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572000" y="7964424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48640" y="8348472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21792" y="8348472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Desenhou e nomeou o desenho</a:t>
            </a:r>
            <a:endParaRPr lang="en-US" sz="850" dirty="0"/>
          </a:p>
        </p:txBody>
      </p:sp>
      <p:sp>
        <p:nvSpPr>
          <p:cNvPr id="74" name="Shape 71"/>
          <p:cNvSpPr/>
          <p:nvPr/>
        </p:nvSpPr>
        <p:spPr>
          <a:xfrm>
            <a:off x="3657600" y="8348472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4572000" y="8348472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48640" y="8732520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621792" y="87325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Resolveu um conflito com palavras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3657600" y="873252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4572000" y="8732520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48640" y="9116568"/>
            <a:ext cx="6464808" cy="384048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657600" y="911656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4572000" y="9116568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48640" y="9500616"/>
            <a:ext cx="6464808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3657600" y="950061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4572000" y="9500616"/>
            <a:ext cx="0" cy="384048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548640" y="9921240"/>
            <a:ext cx="6464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Cada criança tem seu tempo: esta ficha serve para celebrar e registrar, nunca para comparar.</a:t>
            </a:r>
            <a:endParaRPr lang="en-US" sz="850" dirty="0"/>
          </a:p>
        </p:txBody>
      </p:sp>
      <p:sp>
        <p:nvSpPr>
          <p:cNvPr id="87" name="Text 84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Ficha 5 · Conquistas e marcos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FDE7E2"/>
          </a:solidFill>
          <a:ln w="12700">
            <a:solidFill>
              <a:srgbClr val="FDE7E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12648"/>
            <a:ext cx="822960" cy="8229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793699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669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6F5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786384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Entrevista de acolhimento da família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Converse com a família na chegada da criança. Estas informações orientam a adaptação e o primeiro bloco do relatório.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27432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566160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NASCIMENTO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566160" y="2286000"/>
            <a:ext cx="137160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212080" y="1828800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5212080" y="2286000"/>
            <a:ext cx="180136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514600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Como a criança é chamada em casa? Tem apelido?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" y="3063240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172968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Com quem mora? Tem irmãos? Quem cuida dela no dia a dia?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721608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831336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3. Como é o sono? Como adormece (colo, chupeta, paninho, música)?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" y="4379976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4489704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4. Como é a alimentação? Preferências, recusas, alergias ou restrições?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8640" y="5038344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148072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 Usa fralda? Já demonstra interesse pelo banheiro?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48640" y="5696712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5806440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6. Como se comunica? Que palavras ou gestos usa?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8640" y="6355080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6464808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7. O que a acalma quando está triste ou assustada?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48640" y="7013448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7123176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8. Do que mais gosta de brincar? Tem um objeto ou brinquedo preferido?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8640" y="7671816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7781544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9. Já frequentou outra creche? Como foram as separações até hoje?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48640" y="8330184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8439912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10. Há alguma informação de saúde importante para a equipe?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548640" y="8988552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48640" y="9098280"/>
            <a:ext cx="6464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11. O que a família espera da creche neste ano?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48640" y="9646920"/>
            <a:ext cx="6464808" cy="0"/>
          </a:xfrm>
          <a:prstGeom prst="line">
            <a:avLst/>
          </a:prstGeom>
          <a:noFill/>
          <a:ln w="9525">
            <a:solidFill>
              <a:srgbClr val="D9D5E6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Ficha 6 · Entrevista de acolhimento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464808" cy="1234440"/>
          </a:xfrm>
          <a:prstGeom prst="roundRect">
            <a:avLst>
              <a:gd name="adj" fmla="val 1333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612648"/>
            <a:ext cx="822960" cy="822960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793699"/>
            <a:ext cx="460858" cy="46085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828800" y="566928"/>
            <a:ext cx="500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FA58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FICHA 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828800" y="786384"/>
            <a:ext cx="5001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D2A4A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Roteiro para montar o relatório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1188720"/>
            <a:ext cx="5001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Antes de escrever, separe as melhores evidências de cada bloco. Depois é só costurar com o Banco de Frases.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8288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CRIANÇA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8640" y="2286000"/>
            <a:ext cx="3291840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114800" y="1828800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TURMA / SEMESTRE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14800" y="2286000"/>
            <a:ext cx="2898648" cy="0"/>
          </a:xfrm>
          <a:prstGeom prst="line">
            <a:avLst/>
          </a:prstGeom>
          <a:noFill/>
          <a:ln w="9525">
            <a:solidFill>
              <a:srgbClr val="B9B4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2560320"/>
            <a:ext cx="6464808" cy="411480"/>
          </a:xfrm>
          <a:prstGeom prst="roundRect">
            <a:avLst>
              <a:gd name="adj" fmla="val 17778"/>
            </a:avLst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" y="2560320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Bloco</a:t>
            </a:r>
            <a:endParaRPr lang="en-US" sz="850" dirty="0"/>
          </a:p>
        </p:txBody>
      </p:sp>
      <p:sp>
        <p:nvSpPr>
          <p:cNvPr id="14" name="Text 11"/>
          <p:cNvSpPr txBox="1"/>
          <p:nvPr/>
        </p:nvSpPr>
        <p:spPr>
          <a:xfrm>
            <a:off x="2221992" y="256032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Cena ou fato real (com data)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4370832" y="2560320"/>
            <a:ext cx="1316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Fala da criança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833872" y="256032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Frase do banco (código)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48640" y="2971800"/>
            <a:ext cx="6464808" cy="1051560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1792" y="297180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Chegada e vínculos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148840" y="297180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297680" y="297180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297180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4023360"/>
            <a:ext cx="646480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" y="402336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Relações e convivência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148840" y="402336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97680" y="402336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402336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8640" y="5074920"/>
            <a:ext cx="6464808" cy="1051560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1792" y="507492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3. Corpo, movimento e cuidados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48840" y="507492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297680" y="507492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760720" y="507492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48640" y="6126480"/>
            <a:ext cx="646480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21792" y="612648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4. Linguagens e expressão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148840" y="612648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97680" y="612648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760720" y="612648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8640" y="7178040"/>
            <a:ext cx="6464808" cy="1051560"/>
          </a:xfrm>
          <a:prstGeom prst="rect">
            <a:avLst/>
          </a:prstGeom>
          <a:solidFill>
            <a:srgbClr val="F6F4FA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21792" y="717804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5. Explorações e descobertas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2148840" y="717804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297680" y="717804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760720" y="717804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48640" y="8229600"/>
            <a:ext cx="6464808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6E2E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21792" y="8229600"/>
            <a:ext cx="14538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6. Conquistas e próximos passos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2148840" y="822960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297680" y="822960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760720" y="8229600"/>
            <a:ext cx="0" cy="1051560"/>
          </a:xfrm>
          <a:prstGeom prst="line">
            <a:avLst/>
          </a:prstGeom>
          <a:noFill/>
          <a:ln w="6350">
            <a:solidFill>
              <a:srgbClr val="E6E2E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8640" y="9464040"/>
            <a:ext cx="6464808" cy="640080"/>
          </a:xfrm>
          <a:prstGeom prst="roundRect">
            <a:avLst>
              <a:gd name="adj" fmla="val 17143"/>
            </a:avLst>
          </a:prstGeom>
          <a:solidFill>
            <a:srgbClr val="DCF2EB"/>
          </a:solidFill>
          <a:ln w="12700">
            <a:solidFill>
              <a:srgbClr val="DCF2EB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7240" y="9464040"/>
            <a:ext cx="6007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2A4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Pronto? Escreva no modelo editável e passe o checklist do guia antes de entregar.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548640" y="10277856"/>
            <a:ext cx="6464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5A7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Ficha 7 · Roteiro do relatório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594360" cy="594360"/>
          </a:xfrm>
          <a:prstGeom prst="ellipse">
            <a:avLst/>
          </a:prstGeom>
          <a:solidFill>
            <a:srgbClr val="EF6F57"/>
          </a:solidFill>
          <a:ln w="12700">
            <a:solidFill>
              <a:srgbClr val="EF6F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5646" y="1001268"/>
            <a:ext cx="380390" cy="380390"/>
          </a:xfrm>
          <a:prstGeom prst="ellipse">
            <a:avLst/>
          </a:prstGeom>
          <a:solidFill>
            <a:srgbClr val="E9A21F"/>
          </a:solidFill>
          <a:ln w="12700">
            <a:solidFill>
              <a:srgbClr val="E9A21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559966"/>
            <a:ext cx="427939" cy="427939"/>
          </a:xfrm>
          <a:prstGeom prst="ellipse">
            <a:avLst/>
          </a:prstGeom>
          <a:solidFill>
            <a:srgbClr val="2FA587"/>
          </a:solidFill>
          <a:ln w="12700">
            <a:solidFill>
              <a:srgbClr val="2FA58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04518" y="1536192"/>
            <a:ext cx="285293" cy="285293"/>
          </a:xfrm>
          <a:prstGeom prst="ellipse">
            <a:avLst/>
          </a:prstGeom>
          <a:solidFill>
            <a:srgbClr val="3F86D6"/>
          </a:solidFill>
          <a:ln w="12700">
            <a:solidFill>
              <a:srgbClr val="3F86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96796" y="1155802"/>
            <a:ext cx="237744" cy="237744"/>
          </a:xfrm>
          <a:prstGeom prst="ellipse">
            <a:avLst/>
          </a:prstGeom>
          <a:solidFill>
            <a:srgbClr val="8A67C9"/>
          </a:solidFill>
          <a:ln w="12700">
            <a:solidFill>
              <a:srgbClr val="8A67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ENCERRAR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4688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Quem registra um pouco todo dia escreve com tranquilidade no fim do semestre.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6035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Imprima as fichas quantas vezes precisar e deixe-as à mão na sala. Cinco minutos por dia, cinco crianças por vez: no fim do semestre, você terá material de sobra para relatórios ricos e verdadeiros.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5623560"/>
            <a:ext cx="6464808" cy="3977640"/>
          </a:xfrm>
          <a:prstGeom prst="roundRect">
            <a:avLst>
              <a:gd name="adj" fmla="val 4138"/>
            </a:avLst>
          </a:prstGeom>
          <a:solidFill>
            <a:srgbClr val="3A3660"/>
          </a:solidFill>
          <a:ln w="12700">
            <a:solidFill>
              <a:srgbClr val="3A36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5852160"/>
            <a:ext cx="5824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E9A21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FONTES CONSULTADAS NA ELABORAÇÃO DESTE MATERIAL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6217920"/>
            <a:ext cx="582472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CNE/CEB. Resolução nº 5/2009. Diretrizes Curriculares Nacionais para a Educação Infantil.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Base Nacional Comum Curricular: Educação Infantil. Brasília: MEC, 2017.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MEC. Indicadores da Qualidade na Educação Infantil. Brasília: MEC/SEB, 2009.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BRASIL. Ministério da Saúde. Caderneta da Criança (edição vigente).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CDC (Centers for Disease Control and Prevention, EUA). Learn the Signs. Act Early: marcos do desenvolvimento.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HOFFMANN, J. Avaliação e educação infantil: um olhar sensível e reflexivo sobre a criança. Porto Alegre: Mediação.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FOCHI, P. Afinal, o que os bebês fazem no berçário? Porto Alegre: Penso, 2015.</a:t>
            </a:r>
            <a:endParaRPr lang="en-US" sz="8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50" dirty="0">
                <a:solidFill>
                  <a:srgbClr val="E9E6F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FALK, J. (org.). Educar os três primeiros anos: a experiência de Lóczy. Araraquara: Junqueira &amp; Marin.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9098280"/>
            <a:ext cx="5824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 Ficha 5 (marcos) é referência para celebrar conquistas, nunca instrumento de comparação ou diagnóstico.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9921240"/>
            <a:ext cx="6464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B9B4D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Kit Relatórios da Creche · Material de apoio pedagógico para uso individual. Proibida a revenda ou distribuição.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edok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Fichas de Observação · Kit Relatórios da Creche</dc:title>
  <dc:subject>PptxGenJS Presentation</dc:subject>
  <dc:creator>Kit Relatórios da Creche</dc:creator>
  <cp:lastModifiedBy>Kit Relatórios da Creche</cp:lastModifiedBy>
  <cp:revision>1</cp:revision>
  <dcterms:created xsi:type="dcterms:W3CDTF">2026-10-14T15:37:49Z</dcterms:created>
  <dcterms:modified xsi:type="dcterms:W3CDTF">2026-10-14T15:37:49Z</dcterms:modified>
</cp:coreProperties>
</file>