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718e47f-ae64-f890-7265-e8a263e25eb3}">
          <p14:sldIdLst>
            <p14:sldId id="256"/>
            <p14:sldId id="257"/>
          </p14:sldIdLst>
        </p14:section>
        <p14:section name="Abertura e adaptação" id="{8774ae9d-502e-d2b6-3750-1d4363d08efc}">
          <p14:sldIdLst>
            <p14:sldId id="258"/>
            <p14:sldId id="259"/>
          </p14:sldIdLst>
        </p14:section>
        <p14:section name="Berçário (EI01)" id="{a17fa48b-1de8-9007-d654-e75611ff52fb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Maternal (EI02)" id="{7642c121-1076-ea7d-5bef-a0092ae5cbcb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Rotina e cuidados" id="{b2095653-1945-5b64-abc0-9442b230f03c}">
          <p14:sldIdLst>
            <p14:sldId id="292"/>
            <p14:sldId id="293"/>
          </p14:sldIdLst>
        </p14:section>
        <p14:section name="Situações delicadas" id="{79545166-122e-0e41-e2d9-68623686941b}">
          <p14:sldIdLst>
            <p14:sldId id="294"/>
            <p14:sldId id="295"/>
            <p14:sldId id="296"/>
          </p14:sldIdLst>
        </p14:section>
        <p14:section name="Fechamento: conquistas e próximos passos" id="{c7ed7cf0-b1a5-9246-4dba-08e557fd76f0}">
          <p14:sldIdLst>
            <p14:sldId id="297"/>
          </p14:sldIdLst>
        </p14:section>
        <p14:section name="Troque isto por isto" id="{fee8765a-0e31-f772-5603-35a7afaf1103}">
          <p14:sldIdLst>
            <p14:sldId id="298"/>
            <p14:sldId id="299"/>
          </p14:sldIdLst>
        </p14:section>
        <p14:section name="Verbos e conectivos" id="{e08dad9f-dd0b-76c3-9c5a-84058c857136}">
          <p14:sldIdLst>
            <p14:sldId id="300"/>
          </p14:sldIdLst>
        </p14:section>
        <p14:section name="Encerramento" id="{dc1218cf-3efc-c373-257a-735153e2b9f2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731520"/>
            <a:ext cx="2834640" cy="283464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200400"/>
            <a:ext cx="1188720" cy="118872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3108960"/>
            <a:ext cx="914400" cy="9144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3931920"/>
            <a:ext cx="731520" cy="73152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548640"/>
            <a:ext cx="502920" cy="50292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1463040"/>
            <a:ext cx="1371600" cy="137160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737360"/>
            <a:ext cx="822960" cy="8229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07492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406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Banco de Frases BNCC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72694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Frases para os 61 objetivos de aprendizagem de 0 a 3 anos, em três níveis e com o próximo passo da equipe, mais abertura, rotina, situações delicadas e fechamentos.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8549640"/>
            <a:ext cx="1060704" cy="384048"/>
          </a:xfrm>
          <a:prstGeom prst="roundRect">
            <a:avLst>
              <a:gd name="adj" fmla="val 50000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854964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Berçário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746504" y="8549640"/>
            <a:ext cx="1252728" cy="384048"/>
          </a:xfrm>
          <a:prstGeom prst="roundRect">
            <a:avLst>
              <a:gd name="adj" fmla="val 50000"/>
            </a:avLst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746504" y="8549640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Maternal I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136392" y="8549640"/>
            <a:ext cx="1348740" cy="384048"/>
          </a:xfrm>
          <a:prstGeom prst="roundRect">
            <a:avLst>
              <a:gd name="adj" fmla="val 50000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36392" y="8549640"/>
            <a:ext cx="1348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Maternal II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96926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61 objetivos · 299 frases e sugestões · editável no Canva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COMECE POR AQUI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Como usar o banco de frases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64808" cy="1188720"/>
          </a:xfrm>
          <a:prstGeom prst="roundRect">
            <a:avLst>
              <a:gd name="adj" fmla="val 13846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01368"/>
            <a:ext cx="685800" cy="6858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1952244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719072"/>
            <a:ext cx="509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Encontre o objetivo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084832"/>
            <a:ext cx="5093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frases estão organizadas por faixa (Berçário EI01, Maternal EI02) e por campo de experiência, na ordem dos códigos da BNCC.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6464808" cy="1188720"/>
          </a:xfrm>
          <a:prstGeom prst="roundRect">
            <a:avLst>
              <a:gd name="adj" fmla="val 13846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" y="3108960"/>
            <a:ext cx="685800" cy="68580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" y="325983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3026664"/>
            <a:ext cx="509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Escolha o nível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737360" y="3392424"/>
            <a:ext cx="5093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demonstra, em desenvolvimento ou iniciando: o nível que descreve a criança hoje, comparada com ela mesma.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4169664"/>
            <a:ext cx="6464808" cy="1188720"/>
          </a:xfrm>
          <a:prstGeom prst="roundRect">
            <a:avLst>
              <a:gd name="adj" fmla="val 13846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4416552"/>
            <a:ext cx="685800" cy="68580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456742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334256"/>
            <a:ext cx="509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Copie e personalize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4700016"/>
            <a:ext cx="5093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Canva, selecione o texto e copie para o modelo. Troque [NOME] pelo nome da criança e revise a concordância (o/a).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5477256"/>
            <a:ext cx="6464808" cy="1188720"/>
          </a:xfrm>
          <a:prstGeom prst="roundRect">
            <a:avLst>
              <a:gd name="adj" fmla="val 13846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5724144"/>
            <a:ext cx="685800" cy="68580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587502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5641848"/>
            <a:ext cx="509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Acrescente o que você viu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737360" y="6007608"/>
            <a:ext cx="5093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Uma cena ou uma fala real em cada bloco. Use o próximo passo da equipe no fechamento do relatório.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876288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Os níveis de cada objetivo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7333488"/>
            <a:ext cx="1513332" cy="1143000"/>
          </a:xfrm>
          <a:prstGeom prst="roundRect">
            <a:avLst>
              <a:gd name="adj" fmla="val 9600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85800" y="7443216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685800" y="7744968"/>
            <a:ext cx="12390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Aparece com frequência e autonomia.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2199132" y="7333488"/>
            <a:ext cx="1513332" cy="1143000"/>
          </a:xfrm>
          <a:prstGeom prst="roundRect">
            <a:avLst>
              <a:gd name="adj" fmla="val 9600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2336292" y="7443216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2336292" y="7744968"/>
            <a:ext cx="12390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Aparece com apoio ou de vez em quando.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849624" y="7333488"/>
            <a:ext cx="1513332" cy="1143000"/>
          </a:xfrm>
          <a:prstGeom prst="roundRect">
            <a:avLst>
              <a:gd name="adj" fmla="val 9600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3986784" y="7443216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986784" y="7744968"/>
            <a:ext cx="12390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Está surgindo; descrito de forma positiva.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5500116" y="7333488"/>
            <a:ext cx="1513332" cy="1143000"/>
          </a:xfrm>
          <a:prstGeom prst="roundRect">
            <a:avLst>
              <a:gd name="adj" fmla="val 9600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5637276" y="7443216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5637276" y="7744968"/>
            <a:ext cx="12390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que a equipe vai propor a seguir.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548640" y="9144000"/>
            <a:ext cx="6464808" cy="868680"/>
          </a:xfrm>
          <a:prstGeom prst="roundRect">
            <a:avLst>
              <a:gd name="adj" fmla="val 18947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822960" y="9144000"/>
            <a:ext cx="5916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Importante: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frases são pontos de partida. Nunca copie o mesmo texto para várias crianças.</a:t>
            </a:r>
            <a:endParaRPr lang="en-US" sz="1050" dirty="0"/>
          </a:p>
        </p:txBody>
      </p:sp>
      <p:sp>
        <p:nvSpPr>
          <p:cNvPr id="39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40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ABERTURA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Abertura e adaptação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64808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primeiro parágrafo apresenta a criança e conta como foi sua chegada e o vínculo com o grupo. Escolha a frase que mais se aproxima do que você viveu com a criança e complete com um fato real.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6970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6F5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Adaptação tranquila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84170"/>
            <a:ext cx="6464808" cy="803148"/>
          </a:xfrm>
          <a:prstGeom prst="roundRect">
            <a:avLst>
              <a:gd name="adj" fmla="val 1366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003042"/>
            <a:ext cx="60076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chegou à turma neste semestre e viveu o período de adaptação com tranquilidade. Desde as primeiras semanas, explorou o espaço com curiosidade e construiu vínculos com a equipe e com os colegas.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778758"/>
            <a:ext cx="6464808" cy="803148"/>
          </a:xfrm>
          <a:prstGeom prst="roundRect">
            <a:avLst>
              <a:gd name="adj" fmla="val 1366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897630"/>
            <a:ext cx="60076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iniciou o ano na turma demonstrando segurança. A presença da família nos primeiros dias e a rotina previsível contribuíram para que a criança se sentisse acolhida rapidamente.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673346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792218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é uma criança que chega à creche com alegria, despede-se da família com tranquilidade e logo procura os brinquedos e os colegas de que mais gosta.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43474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6F5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Adaptação gradual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900674"/>
            <a:ext cx="6464808" cy="803148"/>
          </a:xfrm>
          <a:prstGeom prst="roundRect">
            <a:avLst>
              <a:gd name="adj" fmla="val 1366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6019546"/>
            <a:ext cx="60076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viveu um período de adaptação gradual, com momentos de choro na despedida da família nas primeiras semanas. Com o tempo, o acolhimento da equipe e a rotina estável ajudaram a criança a se sentir segura, e hoje chega com mais tranquilidade.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6795262"/>
            <a:ext cx="6464808" cy="803148"/>
          </a:xfrm>
          <a:prstGeom prst="roundRect">
            <a:avLst>
              <a:gd name="adj" fmla="val 1366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6914134"/>
            <a:ext cx="60076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Nos primeiros dias, [NOME] preferiu ficar próximo do adulto de referência, observando o grupo antes de participar. Esse tempo de observação foi respeitado e, aos poucos, a criança passou a explorar o espaço e a se aproximar dos colegas.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7689850"/>
            <a:ext cx="6464808" cy="803148"/>
          </a:xfrm>
          <a:prstGeom prst="roundRect">
            <a:avLst>
              <a:gd name="adj" fmla="val 1366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7808722"/>
            <a:ext cx="60076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adaptação de [NOME] foi construída passo a passo, em parceria com a família. Um objeto de casa trazido nos primeiros dias ajudou a criança a fazer a transição e hoje ela já se sente parte do grupo.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8630158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6F5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Retorno ou continuidade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9087358"/>
            <a:ext cx="6464808" cy="803148"/>
          </a:xfrm>
          <a:prstGeom prst="roundRect">
            <a:avLst>
              <a:gd name="adj" fmla="val 1366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9206230"/>
            <a:ext cx="60076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já frequentava a instituição e retornou neste semestre reencontrando colegas e espaços conhecidos. A adaptação à nova turma e à nova equipe aconteceu com tranquilidade.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ABERTURA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033272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segue na turma, e este semestre foi marcado por vínculos mais fortes com os colegas e por uma participação cada vez mais ativa na rotina.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84528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6F5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Chegada no meio do semestre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1728"/>
            <a:ext cx="6464808" cy="803148"/>
          </a:xfrm>
          <a:prstGeom prst="roundRect">
            <a:avLst>
              <a:gd name="adj" fmla="val 1366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60600"/>
            <a:ext cx="60076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chegou à turma no decorrer do semestre e, por isso, este relatório reflete um período mais curto de convivência. Nesse tempo, a criança foi acolhida pelo grupo e já demonstra estar construindo seus primeiros vínculos.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82036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6F5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Apresentação da criança (jeito de ser)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9236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658108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é uma criança curiosa, que observa tudo ao redor com atenção e se interessa especialmente por [interesse da criança].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4263644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382516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demonstra um jeito tranquilo e observador: gosta de conhecer as situações antes de participar e, quando se sente à vontade, envolve-se com entusiasmo.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988052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106924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é uma criança comunicativa e afetuosa, que gosta de estar próxima dos colegas e dos adultos e demonstra alegria nas brincadeiras em grupo.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5712460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831332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muita energia para explorar o mundo: movimenta-se pelo espaço, experimenta desafios e demonstra prazer nas brincadeiras de movimento.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BERÇÁRIO (EI01)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Berçário · Bebês (EI01)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64808" cy="502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zero a 1 ano e 6 meses. Para cada objetivo: três níveis de descrição e o próximo passo da equipe.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94052"/>
            <a:ext cx="6464808" cy="960120"/>
          </a:xfrm>
          <a:prstGeom prst="roundRect">
            <a:avLst>
              <a:gd name="adj" fmla="val 17143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349500"/>
            <a:ext cx="640080" cy="64008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2490318"/>
            <a:ext cx="358445" cy="3584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358644"/>
            <a:ext cx="5276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CAMPO DE EXPERIÊNCIA · EO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578100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eu, o outro e o nós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337052"/>
            <a:ext cx="6464808" cy="3418459"/>
          </a:xfrm>
          <a:prstGeom prst="roundRect">
            <a:avLst>
              <a:gd name="adj" fmla="val 321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348335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4833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EI01EO01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920240" y="3474212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Perceber que suas ações têm efeitos nas outras crianças e nos adultos.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85800" y="388569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9497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2304288" y="394055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percebe que suas ações provocam reações nas pessoas ao redor: sorri e repete o gesto quando um colega ri de volta, oferece um brinquedo e observa a resposta de quem o recebe.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85800" y="453529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59930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2304288" y="459016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começado a observar a reação dos outros às suas ações. Quando estende um objeto a um adulto, aguarda o retorno e, aos poucos, repete o gesto com intenção de interagir.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85800" y="5184902"/>
            <a:ext cx="6190488" cy="756412"/>
          </a:xfrm>
          <a:prstGeom prst="roundRect">
            <a:avLst>
              <a:gd name="adj" fmla="val 96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524891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22" name="Text 19"/>
          <p:cNvSpPr txBox="1"/>
          <p:nvPr/>
        </p:nvSpPr>
        <p:spPr>
          <a:xfrm>
            <a:off x="2304288" y="5239766"/>
            <a:ext cx="4389120" cy="70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ainda está descobrindo que seus gestos chegam até o outro. Nas brincadeiras de esconder e achar, acompanha com atenção a resposta do adulto, sinal de que essa percepção está em construção.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5800" y="5996178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606018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25" name="Text 22"/>
          <p:cNvSpPr txBox="1"/>
          <p:nvPr/>
        </p:nvSpPr>
        <p:spPr>
          <a:xfrm>
            <a:off x="2304288" y="6051042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Propor brincadeiras de ação e resposta (cadê-achou, rolar a bola de um para o outro, imitar o som que a criança faz) para que perceba o efeito de suas ações nas pessoas.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BERÇÁRIO (EI01) · CAMPO EO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EI01EO02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Perceber as possibilidades e os limites de seu corpo nas brincadeiras e interações das quais participa.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explora o próprio corpo com confiança: escala almofadas, passa por baixo de obstáculos e ajusta os movimentos quando percebe que algo está alto ou estreito demais.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experimenta novos movimentos nas brincadeiras e começa a avaliar o que consegue fazer, buscando apoio do adulto quando sente necessidade e tentando novamente em seguida.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83083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9483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8569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vem descobrindo o que o próprio corpo é capaz de fazer. Prefere explorar perto do adulto de referência e, com essa segurança, tem arriscado pequenos desafios no tapete e nos circuitos.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8043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4444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53529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Organizar circuitos baixos e seguros (rampas, túneis, almofadas) em que a criança possa testar o corpo livremente, sem ser colocada em posições que ainda não alcança sozinha.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386072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3237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532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EI01EO03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523232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Interagir com crianças da mesma faixa etária e adultos ao explorar espaços, materiais, objetos, brinquedos.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500329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0673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505815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busca a companhia de colegas e adultos durante as explorações: aproxima-se de quem está brincando, troca olhares, oferece e recebe objetos, mantendo a interação por alguns minutos.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65289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71690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70776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se aproximado das outras crianças durante as brincadeiras, observando o que fazem e explorando os mesmos materiais lado a lado, com trocas que se tornam mais frequentes.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30250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36651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35736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explora os materiais principalmente de forma individual e observa com interesse os colegas. Com a mediação do adulto, começa a compartilhar o mesmo espaço de brincadeira.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95210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701611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700697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Oferecer cestos de tesouros e materiais não estruturados em pequenos grupos, favorecendo que as crianças explorem lado a lado e encontrem motivos para interagir.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BERÇÁRIO (EI01) · CAMPO EO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810381"/>
          </a:xfrm>
          <a:prstGeom prst="roundRect">
            <a:avLst>
              <a:gd name="adj" fmla="val 288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EI01EO04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Comunicar necessidades, desejos e emoções, utilizando gestos, balbucios, palavras.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756412"/>
          </a:xfrm>
          <a:prstGeom prst="roundRect">
            <a:avLst>
              <a:gd name="adj" fmla="val 96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70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comunica com clareza o que sente e deseja: aponta para o que quer, usa palavras como "mais", "água" e "colo", e demonstra alegria, frustração ou cansaço de formas que os adultos conseguem compreender.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342896"/>
            <a:ext cx="6190488" cy="756412"/>
          </a:xfrm>
          <a:prstGeom prst="roundRect">
            <a:avLst>
              <a:gd name="adj" fmla="val 96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40690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397760"/>
            <a:ext cx="4389120" cy="70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ampliado suas formas de comunicação, combinando gestos, balbucios e algumas palavras para expressar necessidades. Quando é compreendido, demonstra satisfação e persiste na comunicação.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3154172"/>
            <a:ext cx="6190488" cy="756412"/>
          </a:xfrm>
          <a:prstGeom prst="roundRect">
            <a:avLst>
              <a:gd name="adj" fmla="val 96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21818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3209036"/>
            <a:ext cx="4389120" cy="70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comunica suas necessidades principalmente por meio do choro, do olhar e de movimentos do corpo. A equipe tem nomeado esses sinais em voz alta, ajudando a criança a construir novas formas de expressão.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965448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02945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4020312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Nomear em voz alta as emoções e necessidades da criança ("você está com sono", "você quer a bola") e responder a cada tentativa de comunicação, valorizando gestos e balbucios.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871085"/>
            <a:ext cx="6464808" cy="3487039"/>
          </a:xfrm>
          <a:prstGeom prst="roundRect">
            <a:avLst>
              <a:gd name="adj" fmla="val 314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017389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017389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EI01EO05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5008245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Reconhecer seu corpo e expressar suas sensações em momentos de alimentação, higiene, brincadeira e descanso.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548830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55231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554316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participa ativamente dos momentos de cuidado: estende os braços para a troca, demonstra quando está satisfeito na alimentação e sinaliza sono ou desconforto com gestos claros.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613791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620191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619277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começado a reconhecer e sinalizar as próprias sensações, como fome, sono e desconforto, e a colaborar nos momentos de cuidado quando convidado pelo adulto.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787515"/>
            <a:ext cx="6190488" cy="756412"/>
          </a:xfrm>
          <a:prstGeom prst="roundRect">
            <a:avLst>
              <a:gd name="adj" fmla="val 96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85152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842379"/>
            <a:ext cx="4389120" cy="70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vive os momentos de cuidado de forma tranquila e vem sendo convidado a participar deles. Ainda está construindo formas de sinalizar suas sensações, e a equipe acompanha esses sinais com atenção.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7598791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766279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7653655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Transformar a troca, o banho e a alimentação em momentos de relação: antecipar cada gesto com palavras, convidar a criança a colaborar e esperar sua resposta.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BERÇÁRIO (EI01) · CAMPO EO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EI01EO06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Interagir com outras crianças da mesma faixa etária e adultos, adaptando-se ao convívio social.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está bem adaptado ao grupo e à rotina: reconhece colegas e adultos, demonstra prazer em estar com eles e acompanha os momentos coletivos com tranquilidade.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se adaptado ao convívio coletivo de forma gradual, ampliando os vínculos com colegas e com a equipe e participando cada vez mais dos momentos em grupo.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83083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9483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8569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está construindo seus primeiros vínculos no grupo. Ainda prefere a proximidade do adulto de referência e, a partir dessa segurança, tem observado e se aproximado dos colegas.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8043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4444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53529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Garantir um adulto de referência estável e momentos coletivos curtos e previsíveis (roda de música, chegada), para que a criança se sinta segura ao conviver com o grupo.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386072"/>
            <a:ext cx="6464808" cy="960120"/>
          </a:xfrm>
          <a:prstGeom prst="roundRect">
            <a:avLst>
              <a:gd name="adj" fmla="val 17143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541520"/>
            <a:ext cx="640080" cy="64008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4682338"/>
            <a:ext cx="358445" cy="35844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554480" y="4550664"/>
            <a:ext cx="5276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CAMPO DE EXPERIÊNCIA · CG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4770120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Corpo, gestos e movimentos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5529072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1520" y="567537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5675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EI01CG01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920240" y="5666232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Movimentar as partes do corpo para exprimir corporalmente emoções, necessidades e desejos.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85800" y="614629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62103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30" name="Text 27"/>
          <p:cNvSpPr txBox="1"/>
          <p:nvPr/>
        </p:nvSpPr>
        <p:spPr>
          <a:xfrm>
            <a:off x="2304288" y="620115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usa o corpo para se expressar com intenção: balança os braços quando ouve uma música de que gosta, estende as mãos para pedir colo e vira o rosto quando não quer algo.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85800" y="679589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685990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2304288" y="685076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utilizado cada vez mais o corpo para comunicar o que sente, com gestos que se tornam mais claros e intencionais nas interações com adultos e colegas.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85800" y="744550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750951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2304288" y="750036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expressa suas emoções principalmente com movimentos globais do corpo. A equipe tem interpretado e nomeado esses movimentos, ajudando a criança a reconhecê-los como forma de comunicação.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85800" y="809510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" y="815911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9" name="Text 36"/>
          <p:cNvSpPr txBox="1"/>
          <p:nvPr/>
        </p:nvSpPr>
        <p:spPr>
          <a:xfrm>
            <a:off x="2304288" y="814997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Oferecer músicas, brincadeiras de imitação e momentos de dança livre, acolhendo e nomeando os movimentos que a criança faz para se expressar.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BERÇÁRIO (EI01) · CAMPO CG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EI01CG02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Experimentar as possibilidades corporais nas brincadeiras e interações em ambientes acolhedores e desafiantes.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explora o espaço com autonomia: engatinha, se coloca de pé com apoio ou caminha, sobe e desce de pequenos desníveis e busca novos desafios motores por iniciativa própria.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ampliado suas conquistas motoras, explorando o espaço com mais segurança e experimentando novos movimentos, como rolar, arrastar-se, sentar ou dar os primeiros passos.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83083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9483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8569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explorado o corpo no próprio ritmo, em posições de conforto no tapete. A equipe respeita esse tempo e organiza o ambiente para que novas conquistas aconteçam livremente.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8043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4444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53529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Garantir tempo diário no chão, em espaço amplo e seguro, sem andadores ou posições impostas, com objetos interessantes a pequenas distâncias para motivar o deslocamento.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386072"/>
            <a:ext cx="6464808" cy="3256788"/>
          </a:xfrm>
          <a:prstGeom prst="roundRect">
            <a:avLst>
              <a:gd name="adj" fmla="val 3369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3237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532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EI01CG03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523232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Imitar gestos e movimentos de outras crianças, adultos e animais.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93471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9987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498957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imita gestos com prazer: bate palmas, dá tchau, reproduz movimentos das músicas e imita sons e gestos de animais nas brincadeiras.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58431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64832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63918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começado a imitar alguns gestos das músicas e das brincadeiras, especialmente quando o adulto repete o movimento várias vezes e com entusiasmo.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23392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29793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28878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observa atentamente os gestos dos adultos e colegas. Essa observação é o primeiro passo da imitação, que tem sido estimulada com cantigas de gestos simples.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88352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694753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693839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Repetir diariamente cantigas com gestos (palminhas, "serra, serra, serrador", animais) e brincadeiras de espelho, imitando também os gestos que a criança inventa.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BERÇÁRIO (EI01) · CAMPO CG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256788"/>
          </a:xfrm>
          <a:prstGeom prst="roundRect">
            <a:avLst>
              <a:gd name="adj" fmla="val 3369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EI01CG04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Participar do cuidado do seu corpo e da promoção do seu bem-estar.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2704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1790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colabora ativamente nos cuidados: segura a colher, ajuda a tirar as meias, leva a mão ao rosto na hora de lavar e demonstra prazer nesses momentos.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1264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17665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16750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participado cada vez mais dos momentos de cuidado, colaborando com pequenos gestos quando convidado, como estender o braço ou segurar o copo com apoio.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76225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2625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1711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sido convidado a participar dos momentos de cuidado e observa com atenção cada gesto do adulto. A colaboração tem surgido aos poucos, no seu tempo.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1185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47586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46671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Convidar a criança a participar de cada etapa do cuidado ("agora você levanta o braço"), oferecendo copo e colher próprios e respeitando o tempo de resposta.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317492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46379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4637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EI01CG05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454652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Utilizar os movimentos de preensão, encaixe e lançamento, ampliando suas possibilidades de manuseio de diferentes materiais e objetos.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93471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9987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498957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manipula objetos com destreza: pega pequenos itens com os dedos em pinça, encaixa peças, empilha blocos e lança bolas com intenção.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58431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64832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63918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aprimorado o manuseio dos objetos, passando-os de uma mão para a outra, colocando e tirando itens de recipientes e experimentando encaixes simples.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23392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29793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28878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explora os objetos levando-os à boca, sacudindo e batendo, formas importantes de conhecer o mundo nesta fase. A equipe oferece materiais variados e seguros para essa exploração.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88352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694753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693839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Oferecer cestos de tesouros, potes com tampa, argolas, bolas de texturas diferentes e caixas para colocar e tirar, sempre com materiais seguros para levar à boca.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7789164"/>
            <a:ext cx="6464808" cy="960120"/>
          </a:xfrm>
          <a:prstGeom prst="roundRect">
            <a:avLst>
              <a:gd name="adj" fmla="val 17143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" y="7944612"/>
            <a:ext cx="640080" cy="64008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8085430"/>
            <a:ext cx="358445" cy="358445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554480" y="7953756"/>
            <a:ext cx="5276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CAMPO DE EXPERIÊNCIA · TS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1554480" y="8173212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Traços, sons, cores e formas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BERÇÁRIO (EI01) · CAMPO TS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095117"/>
          </a:xfrm>
          <a:prstGeom prst="roundRect">
            <a:avLst>
              <a:gd name="adj" fmla="val 354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EI01TS01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Explorar sons produzidos com o próprio corpo e com objetos do ambiente.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2704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1790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explora sons com curiosidade: bate objetos para ouvir o barulho, faz sons com a boca, bate palmas e demonstra preferências por determinados sons.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12645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17665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167509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descoberto os sons que pode produzir, batendo objetos e repetindo a ação quando o som desperta seu interesse.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600579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66458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655443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reage aos sons do ambiente com atenção, virando o rosto e se acalmando ou se agitando conforme o que ouve. A exploração ativa dos sons tem sido estimulada.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250184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31419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305048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Oferecer chocalhos, potes com sementes, panelas e colheres de pau, e brincar de produzir sons com o corpo (palmas, estalos, sons com a boca).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55821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302125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302125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EI01TS02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292981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Traçar marcas gráficas, em diferentes suportes, usando instrumentos riscantes e tintas.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773041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83704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4827905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demonstra prazer em deixar marcas: risca o papel com giz de cera, espalha tinta com as mãos e observa com atenção os traços que produz.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422646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48665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477510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experimentado deixar marcas em diferentes suportes, com gestos amplos e exploratórios, interessando-se cada vez mais pelo resultado.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072251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13625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127115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explorado as tintas e os riscadores principalmente pelas sensações que provocam, tocando, apertando e espalhando. Essa exploração sensorial é o início da expressão gráfica.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721856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678586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6776720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Oferecer papéis grandes fixados no chão ou na parede, giz de cera grosso e tintas atóxicas, inclusive comestíveis, deixando a criança explorar livremente.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BERÇÁRIO (EI01) · CAMPO TS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EI01TS03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Explorar diferentes fontes sonoras e materiais para acompanhar brincadeiras cantadas, canções, músicas e melodias.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acompanha as músicas com entusiasmo: balança o corpo, sacode instrumentos no ritmo, reconhece canções preferidas e pede que sejam repetidas.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acompanhado as canções com movimentos e objetos sonoros, demonstrando reconhecer as músicas que fazem parte da rotina da turma.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83083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9483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8569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escuta as canções com atenção e demonstra tranquilidade nesses momentos. Aos poucos, tem sido convidado a acompanhar a música com chocalhos e movimentos.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8043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4444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53529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Manter um repertório de cantigas que se repete na rotina e oferecer instrumentos simples para que a criança acompanhe a música do seu jeito.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386072"/>
            <a:ext cx="6464808" cy="960120"/>
          </a:xfrm>
          <a:prstGeom prst="roundRect">
            <a:avLst>
              <a:gd name="adj" fmla="val 17143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541520"/>
            <a:ext cx="640080" cy="64008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4682338"/>
            <a:ext cx="358445" cy="35844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554480" y="4550664"/>
            <a:ext cx="5276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CAMPO DE EXPERIÊNCIA · EF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4770120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Escuta, fala, pensamento e imaginação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5529072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1520" y="567537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5675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EI01EF01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920240" y="5666232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Reconhecer quando é chamado por seu nome e reconhecer os nomes de pessoas com quem convive.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85800" y="614629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62103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30" name="Text 27"/>
          <p:cNvSpPr txBox="1"/>
          <p:nvPr/>
        </p:nvSpPr>
        <p:spPr>
          <a:xfrm>
            <a:off x="2304288" y="620115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reconhece o próprio nome, olhando ou vindo ao encontro de quem chama, e também identifica pelo nome colegas e adultos da turma, olhando para eles quando são mencionados.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85800" y="679589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685990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2304288" y="685076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respondido ao ser chamado pelo nome com frequência cada vez maior e começa a reconhecer os nomes de algumas pessoas próximas.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85800" y="744550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750951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2304288" y="750036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sido chamado pelo nome nas interações diárias e reage à voz do adulto com atenção. O reconhecimento do próprio nome está em construção.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85800" y="809510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" y="815911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9" name="Text 36"/>
          <p:cNvSpPr txBox="1"/>
          <p:nvPr/>
        </p:nvSpPr>
        <p:spPr>
          <a:xfrm>
            <a:off x="2304288" y="814997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Chamar a criança pelo nome em todas as interações, usar cantigas com os nomes da turma e fotos dos colegas e familiares em painéis na altura das crianças.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BERÇÁRIO (EI01) · CAMPO EF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163697"/>
          </a:xfrm>
          <a:prstGeom prst="roundRect">
            <a:avLst>
              <a:gd name="adj" fmla="val 346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EI01EF02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Demonstrar interesse ao ouvir a leitura de poemas e a apresentação de músicas.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demonstra grande interesse por poemas, parlendas e músicas: presta atenção, sorri, movimenta o corpo e pede repetição com gestos ou palavras.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se interessado cada vez mais pelos momentos de poesia e música, mantendo a atenção por mais tempo e reagindo às rimas e ao ritmo.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83083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9483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8569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escuta poemas e músicas por curtos períodos, com momentos de atenção que têm se ampliado. A repetição tem ajudado a criança a se familiarizar com esse repertório.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80435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4444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535299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Ler e cantar diariamente parlendas, quadrinhas e poemas curtos, com variação de entonação, repetindo os preferidos da turma.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224401"/>
            <a:ext cx="6464808" cy="3478530"/>
          </a:xfrm>
          <a:prstGeom prst="roundRect">
            <a:avLst>
              <a:gd name="adj" fmla="val 315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370705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370705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EI01EF03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361561"/>
            <a:ext cx="4864608" cy="587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Demonstrar interesse ao ouvir histórias lidas ou contadas, observando ilustrações e os movimentos de leitura do adulto-leitor (modo de segurar o portador e de virar as páginas).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994783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058791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5049647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se interessa pelas histórias: aproxima-se quando o adulto pega um livro, observa as ilustrações com atenção e acompanha o virar das páginas, às vezes tentando virá-las.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644388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7083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699252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participado dos momentos de leitura com interesse crescente, observando as imagens e permanecendo por mais tempo junto ao grupo.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293993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358001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348857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participado dos momentos de leitura por curtos períodos e explora os livros principalmente com as mãos e a boca, forma própria desta fase de conhecer os objetos.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943598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700760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6998462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Ler para a criança no colo ou em pequenos grupos, com livros de páginas duras, e deixar livros sempre acessíveis no espaço da sala.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BERÇÁRIO (EI01) · CAMPO EF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EI01EF04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Reconhecer elementos das ilustrações de histórias, apontando-os, a pedido do adulto-leitor.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aponta elementos das ilustrações quando o adulto pergunta ("cadê o gato?") e, muitas vezes, aponta por iniciativa própria o que reconhece.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começado a apontar algumas figuras conhecidas nos livros, especialmente animais e objetos do cotidiano, com o incentivo do adulto.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83083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9483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8569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observa as ilustrações com atenção quando o adulto aponta e nomeia as figuras. O gesto de apontar ainda está surgindo e tem sido estimulado.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8043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4444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53529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Explorar livros de imagens com animais e objetos do cotidiano, apontando e nomeando as figuras e esperando a resposta da criança.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386072"/>
            <a:ext cx="6464808" cy="3163697"/>
          </a:xfrm>
          <a:prstGeom prst="roundRect">
            <a:avLst>
              <a:gd name="adj" fmla="val 346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3237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532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EI01EF05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523232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Imitar as variações de entonação e gestos realizados pelos adultos, ao ler histórias e ao cantar.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500329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0673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505815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imita com prazer as entonações e os gestos das histórias e canções: faz a voz do lobo, repete sons de animais e completa trechos com gestos.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65289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71690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70776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começado a reproduzir alguns sons e gestos das histórias e músicas preferidas, especialmente os mais marcantes e repetidos.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30250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36651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35736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observa e se diverte com as variações de voz do adulto durante as histórias. A imitação tem sido estimulada com sons simples e repetidos.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952107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701611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7006971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Contar histórias com muita variação de voz e gestos, convidando a criança a fazer junto os sons dos personagens.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BERÇÁRIO (EI01) · CAMPO EF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EI01EF06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Comunicar-se com outras pessoas usando movimentos, gestos, balbucios, fala e outras formas de expressão.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se comunica com desenvoltura, combinando gestos, palavras e pequenas frases, e busca ativamente adultos e colegas para "conversar".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ampliado seu repertório de comunicação, com novos balbucios, gestos e as primeiras palavras, e engaja-se em pequenos "diálogos" com o adulto.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83083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9483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8569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se comunica principalmente por olhares, sorrisos, choro e movimentos. A equipe responde a cada sinal, conversando com a criança e incentivando novas formas de expressão.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8043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4444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53529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Conversar com a criança durante toda a rotina, descrevendo o que acontece, respondendo aos balbucios e fazendo pausas para que ela "responda".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386072"/>
            <a:ext cx="6464808" cy="3163697"/>
          </a:xfrm>
          <a:prstGeom prst="roundRect">
            <a:avLst>
              <a:gd name="adj" fmla="val 346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3237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532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EI01EF07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523232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Conhecer e manipular materiais impressos e audiovisuais em diferentes portadores (livro, revista, gibi, jornal, cartaz, CD, tablet etc.).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500329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0673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505815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manipula livros e revistas com interesse e intenção: folheia, observa as imagens, procura figuras conhecidas e escolhe seus preferidos.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652897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71690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707761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explorado livros e outros materiais impressos com mais cuidado, tentando folhear e demonstrando preferências.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140831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20483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195695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explora os materiais impressos de forma sensorial, pegando, sacudindo e levando à boca, maneira natural de conhecê-los nesta fase.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790436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685444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6845300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Organizar um cantinho com livros de pano, plástico e papel cartonado, revistas e fotos plastificadas, sempre ao alcance das crianças.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BERÇÁRIO (EI01) · CAMPO EF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EI01EF08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Participar de situações de escuta de textos em diferentes gêneros textuais (poemas, fábulas, contos, receitas, quadrinhos, anúncios etc.).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participa com atenção de diferentes situações de escuta, como histórias, parlendas e músicas, e reconhece textos que se repetem na rotina.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participado dos momentos de escuta por períodos mais longos, demonstrando reconhecer alguns textos e canções já conhecidos.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83083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9483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8569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participado das situações de escuta por curtos períodos, alternando com explorações próprias. A permanência tem se ampliado gradualmente.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8043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4444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53529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Variar os gêneros lidos para a turma (parlendas, contos curtos, poemas, receitas) em momentos breves e frequentes ao longo do dia.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386072"/>
            <a:ext cx="6464808" cy="2933446"/>
          </a:xfrm>
          <a:prstGeom prst="roundRect">
            <a:avLst>
              <a:gd name="adj" fmla="val 3741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3237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532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EI01EF09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523232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Conhecer e manipular diferentes instrumentos e suportes de escrita.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93471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9987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498957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explora com interesse giz, lápis grosso e pincéis, segurando-os com intenção de deixar marcas em diferentes papéis e superfícies.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584317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64832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639181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experimentado segurar instrumentos de registro e descobrir as marcas que eles deixam, com interesse crescente.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072251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13625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127115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tido contato com instrumentos de registro e os explora de forma sensorial. O interesse pelas marcas produzidas está surgindo.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721856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678586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6776720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Oferecer giz de cera grosso, giz de lousa, carvão vegetal e pincéis em suportes variados: papel pardo, chão, azulejo, caixas.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7465822"/>
            <a:ext cx="6464808" cy="960120"/>
          </a:xfrm>
          <a:prstGeom prst="roundRect">
            <a:avLst>
              <a:gd name="adj" fmla="val 17143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" y="7621270"/>
            <a:ext cx="640080" cy="64008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7762088"/>
            <a:ext cx="358445" cy="358445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554480" y="7630414"/>
            <a:ext cx="5276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CAMPO DE EXPERIÊNCIA · ET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1554480" y="7849870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Espaços, tempos, quantidades, relações e transformações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BERÇÁRIO (EI01) · CAMPO ET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EI01ET01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Explorar e descobrir as propriedades de objetos e materiais (odor, cor, sabor, temperatura).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explora os materiais com todos os sentidos: cheira, toca, observa, compara texturas e temperaturas e demonstra preferências claras.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explorado as propriedades dos materiais com crescente curiosidade, manipulando por mais tempo e reagindo às diferentes sensações.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83083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9483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8569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tido contato com materiais de diferentes texturas, cores e temperaturas, explorando no seu tempo e com mediação próxima do adulto.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8043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4444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53529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Propor experiências sensoriais com elementos naturais e do cotidiano (água morna e fria, folhas, panos, gelatina, frutas), nomeando as sensações.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386072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3237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532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EI01ET02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523232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Explorar relações de causa e efeito (transbordar, tingir, misturar, mover e remover etc.) na interação com o mundo físico.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500329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0673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505815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investiga relações de causa e efeito com persistência: derruba torres para vê-las cair, enche e esvazia recipientes, aperta botões e repete a ação para confirmar o resultado.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65289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71690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70776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repetido ações para observar seus efeitos, como deixar cair objetos e observar onde vão parar, demonstrando curiosidade sobre o que acontece.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30250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36651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35736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observado com interesse os efeitos das ações dos adultos e colegas sobre os objetos. Começa a experimentar essas ações por conta própria.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95210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701611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700697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Oferecer brinquedos de ação e reação, garrafas sensoriais, água para encher e esvaziar e torres para derrubar, permitindo a repetição.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BERÇÁRIO (EI01) · CAMPO ET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EI01ET03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Explorar o ambiente pela ação e observação, manipulando, experimentando e fazendo descobertas.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explora o ambiente com autonomia e curiosidade: desloca-se em busca do que lhe interessa, investiga cantos, objetos e espaços e se concentra por longos períodos.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ampliado suas explorações pelo espaço da sala e do pátio, afastando-se progressivamente do adulto para investigar o que desperta sua atenção.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83083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9483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8569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explora principalmente o que está ao seu alcance, observando atentamente o movimento ao redor. O ambiente tem sido organizado para convidá-lo a novas descobertas.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8043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4444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53529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Organizar o espaço com cantos de interesse acessíveis, objetos para investigar e tempo livre para que a criança escolha onde e como explorar.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386072"/>
            <a:ext cx="6464808" cy="3163697"/>
          </a:xfrm>
          <a:prstGeom prst="roundRect">
            <a:avLst>
              <a:gd name="adj" fmla="val 346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3237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532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EI01ET04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523232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Manipular, experimentar, arrumar e explorar o espaço por meio de experiências de deslocamentos de si e dos objetos.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500329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0673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505815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desloca objetos pelo espaço com intenção: empurra caixas, carrega brinquedos de um lugar a outro, guarda e tira objetos de cestos.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652897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71690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707761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começado a transportar objetos e a explorar o espaço com eles, colocando e tirando itens de caixas e recipientes.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140831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20483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195695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explora os objetos principalmente onde os encontra. O transporte e a organização dos objetos no espaço têm sido estimulados com caixas e cestos.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790436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685444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6845300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Oferecer caixas para empurrar, carrinhos, bolsas e cestos para carregar, e convidar a criança a guardar os brinquedos junto com o adulto.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BERÇÁRIO (EI01) · CAMPO ET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163697"/>
          </a:xfrm>
          <a:prstGeom prst="roundRect">
            <a:avLst>
              <a:gd name="adj" fmla="val 346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EI01ET05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Manipular materiais diversos e variados para comparar as diferenças e semelhanças entre eles.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compara materiais durante as explorações: separa objetos, alterna entre um e outro, empilha os que são parecidos e demonstra perceber diferenças de tamanho e textura.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manipulado materiais variados e começa a perceber diferenças entre eles, escolhendo alguns e deixando outros de lado.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669159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73316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724023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explorado materiais variados, um de cada vez, conhecendo suas características. A comparação entre eles tem sido incentivada pela equipe.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318764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3827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373628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Oferecer conjuntos de objetos com uma diferença marcante (grande/pequeno, liso/áspero, pesado/leve) e nomear essas diferenças durante a exploração.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224401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370705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370705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EI01ET06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361561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Vivenciar diferentes ritmos, velocidades e fluxos nas interações e brincadeiras (em danças, balanços, escorregadores etc.).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841621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90562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4896485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aprecia brincadeiras com diferentes ritmos e velocidades: dança, pede para balançar mais rápido ou mais devagar e se diverte no escorregador.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491226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55523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546090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vivenciado balanços, danças e brincadeiras de movimento com prazer crescente, demonstrando preferências por alguns ritmos.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140831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20483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195695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participado das brincadeiras de ritmo e velocidade com o apoio do adulto, no colo ou próximo dele, e tem se mostrado cada vez mais à vontade.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790436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685444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6845300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Propor danças com músicas rápidas e lentas, balanço no colo ou em redes, escorregadores baixos e brincadeiras de "devagar e depressa".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MATERNAL (EI02)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464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Maternal I e II · Crianças bem pequenas (EI02)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6464808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1 ano e 7 meses a 3 anos e 11 meses. No Maternal I, "iniciando" e "em desenvolvimento" são os mais usados; no Maternal II, "em desenvolvimento" e "já demonstra".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884170"/>
            <a:ext cx="6464808" cy="960120"/>
          </a:xfrm>
          <a:prstGeom prst="roundRect">
            <a:avLst>
              <a:gd name="adj" fmla="val 17143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3039618"/>
            <a:ext cx="640080" cy="64008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3180436"/>
            <a:ext cx="358445" cy="3584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3048762"/>
            <a:ext cx="5276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CAMPO DE EXPERIÊNCIA · EO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3268218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eu, o outro e o nós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4027170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417347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17347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EI02EO01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920240" y="416433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Demonstrar atitudes de cuidado e solidariedade na interação com crianças e adultos.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85800" y="464439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70839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2304288" y="469925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demonstra cuidado com os colegas: consola quem está chorando, leva um brinquedo para quem está triste, ajuda a buscar objetos e se preocupa quando alguém se machuca.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85800" y="529399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535800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2304288" y="534885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demonstrado atitudes de cuidado com mais frequência, especialmente com os colegas mais próximos, como oferecer ajuda ou se aproximar de quem está chorando.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85800" y="594360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600760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22" name="Text 19"/>
          <p:cNvSpPr txBox="1"/>
          <p:nvPr/>
        </p:nvSpPr>
        <p:spPr>
          <a:xfrm>
            <a:off x="2304288" y="599846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observado as situações em que um colega precisa de ajuda e, com o incentivo do adulto, começa a participar de pequenos gestos de cuidado.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5800" y="659320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665721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25" name="Text 22"/>
          <p:cNvSpPr txBox="1"/>
          <p:nvPr/>
        </p:nvSpPr>
        <p:spPr>
          <a:xfrm>
            <a:off x="2304288" y="664806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Valorizar em voz alta os gestos de cuidado entre as crianças e criar oportunidades de ajuda mútua, como distribuir materiais e cuidar de um boneco da turma.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MATERNAL (EI02) · CAMPO EO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EI02EO02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Demonstrar imagem positiva de si e confiança em sua capacidade para enfrentar dificuldades e desafios.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demonstra confiança em si: enfrenta desafios com persistência, pede para "fazer sozinho", comemora as próprias conquistas e não desiste diante da primeira dificuldade.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se mostrado mais confiante para tentar coisas novas, buscando o apoio do adulto quando necessário e demonstrando orgulho das próprias conquistas.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83083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9483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8569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se lançado a novos desafios com o encorajamento do adulto. Diante das dificuldades, ainda busca bastante apoio, e cada conquista tem sido valorizada pela equipe.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8043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4444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53529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Propor desafios possíveis, encorajar as tentativas, valorizar o esforço (e não só o resultado) e evitar fazer pela criança o que ela já consegue fazer.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386072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3237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532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EI02EO03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523232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Compartilhar os objetos e os espaços com crianças da mesma faixa etária e adultos.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500329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0673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505815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compartilha brinquedos e espaços com tranquilidade: espera sua vez, oferece objetos aos colegas e brinca em grupo dividindo os materiais.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65289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71690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70776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compartilhado objetos e espaços com mais facilidade, especialmente com a mediação do adulto, e começa a aceitar esperar sua vez.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30250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36651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35736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está aprendendo a compartilhar, o que é esperado para a idade. Com a mediação da equipe, tem vivido situações de troca e começa a aceitar dividir alguns brinquedos.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95210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701611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700697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Oferecer materiais em quantidade suficiente, mediar as disputas nomeando o que cada criança deseja e propor brincadeiras com revezamento curto.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MATERNAL (EI02) · CAMPO EO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EI02EO04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Comunicar-se com os colegas e os adultos, buscando compreendê-los e fazendo-se compreender.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se comunica com clareza e interesse: conta o que fez, faz perguntas, expressa opiniões e busca compreender o que os colegas e adultos dizem.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ampliado sua comunicação com colegas e adultos, usando frases cada vez mais completas e buscando outras formas de se explicar quando não é compreendido.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83083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9483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8569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se comunica principalmente com palavras soltas, gestos e apontamentos, e tem se esforçado para ser compreendido. A equipe amplia suas falas, devolvendo frases completas.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8043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4444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53529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Criar rodas de conversa curtas, fazer perguntas abertas, dar tempo para a criança responder e ampliar suas falas ("bola? você quer a bola vermelha?").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386072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3237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532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EI02EO05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523232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Perceber que as pessoas têm características físicas diferentes, respeitando essas diferenças.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500329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0673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505815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percebe e comenta as diferenças entre as pessoas (cor do cabelo, altura, tom de pele) com naturalidade e curiosidade, tratando todos com respeito.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65289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71690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70776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começado a observar e nomear características físicas próprias e dos colegas, especialmente em brincadeiras com espelho e fotografias.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30250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36651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35736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participado de brincadeiras com espelhos e fotos, explorando a própria imagem. A percepção das diferenças entre as pessoas está em construção.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95210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701611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700697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Usar espelhos, fotografias da turma, bonecas diversas e livros que representem a diversidade de pessoas, conversando sobre as características de cada um.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MATERNAL (EI02) · CAMPO EO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256788"/>
          </a:xfrm>
          <a:prstGeom prst="roundRect">
            <a:avLst>
              <a:gd name="adj" fmla="val 3369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EI02EO06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Respeitar regras básicas de convívio social nas interações e brincadeiras.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2704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1790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conhece e respeita os combinados da turma: ajuda a guardar os brinquedos, espera sua vez e lembra os colegas das regras nas brincadeiras.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1264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17665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16750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compreendido os combinados da turma e os segue com frequência crescente, especialmente quando o adulto relembra antes das atividades.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76225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2625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1711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está conhecendo os combinados do grupo. Com lembretes frequentes e o exemplo dos colegas, tem participado cada vez mais dos momentos organizados da rotina.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1185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47586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46671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Construir poucos combinados com a turma, representá-los com imagens, relembrá-los antes das atividades e valorizar quando são cumpridos.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317492"/>
            <a:ext cx="6464808" cy="3487039"/>
          </a:xfrm>
          <a:prstGeom prst="roundRect">
            <a:avLst>
              <a:gd name="adj" fmla="val 314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46379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4637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EI02EO07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454652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Resolver conflitos nas interações e brincadeiras, com a orientação de um adulto.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93471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9987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498957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já busca resolver os conflitos conversando: diz "é minha vez", "não gostei", procura o adulto quando precisa e aceita propostas de acordo.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58431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64832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63918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começado a usar palavras em situações de conflito, com a orientação do adulto, e aceita, cada vez mais, alternativas para resolver as disputas.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233922"/>
            <a:ext cx="6190488" cy="756412"/>
          </a:xfrm>
          <a:prstGeom prst="roundRect">
            <a:avLst>
              <a:gd name="adj" fmla="val 96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29793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288786"/>
            <a:ext cx="4389120" cy="70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ainda vive os conflitos com bastante intensidade, o que é esperado nesta faixa etária. A equipe tem mediado essas situações, ajudando a criança a nomear o que sente e encontrar alternativas.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7045198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710920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7100062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Mediar os conflitos sem culpar, ajudando cada criança a dizer o que sente e o que deseja, e oferecendo palavras e alternativas para resolver a situação.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MATERNAL (EI02) · CAMPO CG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960120"/>
          </a:xfrm>
          <a:prstGeom prst="roundRect">
            <a:avLst>
              <a:gd name="adj" fmla="val 17143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069848"/>
            <a:ext cx="640080" cy="64008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1210666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078992"/>
            <a:ext cx="5276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CAMPO DE EXPERIÊNCIA · CG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298448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Corpo, gestos e movimentos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6464808" cy="3163697"/>
          </a:xfrm>
          <a:prstGeom prst="roundRect">
            <a:avLst>
              <a:gd name="adj" fmla="val 346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203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203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EI02CG01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920240" y="2194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Apropriar-se de gestos e movimentos de sua cultura no cuidado de si e nos jogos e brincadeiras.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85800" y="2674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2738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2304288" y="2729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reproduz com autonomia gestos da cultura nas brincadeiras e nos cuidados: participa de cantigas de roda, brinca de faz de conta cuidando de bonecas e imita os gestos do cotidiano.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85800" y="332422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3388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2304288" y="337908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se apropriado de gestos das brincadeiras tradicionais e do cotidiano, participando das cantigas de roda e reproduzindo cuidados no faz de conta.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85800" y="3973830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403783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2304288" y="4028694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participado das brincadeiras tradicionais com o apoio do adulto, observando e começando a reproduzir alguns gestos.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85800" y="4461764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5257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23" name="Text 20"/>
          <p:cNvSpPr txBox="1"/>
          <p:nvPr/>
        </p:nvSpPr>
        <p:spPr>
          <a:xfrm>
            <a:off x="2304288" y="4516628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Ampliar o repertório de brincadeiras cantadas e de roda, e oferecer materiais de faz de conta ligados ao cuidado (bonecas, banheiras, panelinhas).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48640" y="5367401"/>
            <a:ext cx="6464808" cy="3478530"/>
          </a:xfrm>
          <a:prstGeom prst="roundRect">
            <a:avLst>
              <a:gd name="adj" fmla="val 315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1520" y="5513705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5513705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EI02CG02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920240" y="5504561"/>
            <a:ext cx="4864608" cy="587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Deslocar seu corpo no espaço, orientando-se por noções como em frente, atrás, no alto, embaixo, dentro, fora etc., ao se envolver em brincadeiras e atividades de diferentes naturezas.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85800" y="6137783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6201791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30" name="Text 27"/>
          <p:cNvSpPr txBox="1"/>
          <p:nvPr/>
        </p:nvSpPr>
        <p:spPr>
          <a:xfrm>
            <a:off x="2304288" y="6192647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orienta-se no espaço com segurança: entra e sai de túneis, sobe e desce, passa por baixo e por cima de obstáculos e compreende comandos como "atrás" e "dentro".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85800" y="6787388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68513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2304288" y="6842252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explorado o espaço em circuitos e brincadeiras, compreendendo progressivamente noções como dentro e fora, em cima e embaixo.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85800" y="7436993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7501001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2304288" y="7491857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participado de circuitos e brincadeiras de deslocamento com o apoio do adulto. As noções espaciais têm sido nomeadas durante as vivências.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85800" y="8086598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" y="815060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9" name="Text 36"/>
          <p:cNvSpPr txBox="1"/>
          <p:nvPr/>
        </p:nvSpPr>
        <p:spPr>
          <a:xfrm>
            <a:off x="2304288" y="8141462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Montar circuitos com túneis, caixas, cordas e bambolês, nomeando as posições ("passa por baixo", "entra na caixa") durante a brincadeira.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MATERNAL (EI02) · CAMPO CG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163697"/>
          </a:xfrm>
          <a:prstGeom prst="roundRect">
            <a:avLst>
              <a:gd name="adj" fmla="val 346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EI02CG03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Explorar formas de deslocamento no espaço (pular, saltar, dançar), combinando movimentos e seguindo orientações.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explora com destreza diferentes formas de movimento: corre, pula com os dois pés, dança, sobe e desce degraus e segue orientações nas brincadeiras.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ampliado seu repertório de movimentos, experimentando correr, pular e dançar com coordenação crescente e seguindo algumas orientações.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83083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9483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8569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experimentado novas formas de movimento no seu ritmo, como correr e subir, e participa das brincadeiras motoras com apoio próximo.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80435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4444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535299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Propor brincadeiras de imitar animais, danças com pausas ("estátua"), pular de pequenas alturas e corridas no pátio.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224401"/>
            <a:ext cx="6464808" cy="3256788"/>
          </a:xfrm>
          <a:prstGeom prst="roundRect">
            <a:avLst>
              <a:gd name="adj" fmla="val 3369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370705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370705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EI02CG04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361561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Demonstrar progressiva independência no cuidado do seu corpo.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773041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83704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4827905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demonstra independência nos cuidados: alimenta-se sozinho, lava as mãos, tenta se vestir e calçar e comunica a necessidade de ir ao banheiro.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422646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48665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477510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conquistado autonomia em alguns cuidados, como comer sozinho e lavar as mãos com apoio, e tem demonstrado interesse em fazer mais por si.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072251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13625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127115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sido convidado a participar dos cuidados com o próprio corpo e, aos poucos, tem assumido pequenas tarefas, como segurar a colher e ajudar a tirar o calçado.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721856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678586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6776720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Organizar o ambiente para a autonomia (pia e espelho baixos, cabides acessíveis, utensílios adequados) e dar tempo para a criança tentar sozinha.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MATERNAL (EI02) · CAMPO CG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002026"/>
          </a:xfrm>
          <a:prstGeom prst="roundRect">
            <a:avLst>
              <a:gd name="adj" fmla="val 365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EI02CG05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Desenvolver progressivamente as habilidades manuais, adquirindo controle para desenhar, pintar, rasgar, folhear, entre outros.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demonstra bom controle manual: rasga papéis, folheia livros página a página, segura o giz com firmeza, enfia contas grandes e modela massinha.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aprimorado o controle das mãos, rasgando, amassando, folheando e desenhando com gestos cada vez mais precisos.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669159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73316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724023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explorado materiais que fortalecem as mãos, como massinha e papéis para rasgar, e o controle dos gestos tem se ampliado gradualmente.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318764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3827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373628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Oferecer massinha, papéis para rasgar e amassar, prendedores, potes com tampa de rosca e contas grandes para enfiar.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062730"/>
            <a:ext cx="6464808" cy="960120"/>
          </a:xfrm>
          <a:prstGeom prst="roundRect">
            <a:avLst>
              <a:gd name="adj" fmla="val 17143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218178"/>
            <a:ext cx="640080" cy="64008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4358996"/>
            <a:ext cx="358445" cy="35844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554480" y="4227322"/>
            <a:ext cx="5276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CAMPO DE EXPERIÊNCIA · TS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4446778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Traços, sons, cores e formas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5205730"/>
            <a:ext cx="6464808" cy="3163697"/>
          </a:xfrm>
          <a:prstGeom prst="roundRect">
            <a:avLst>
              <a:gd name="adj" fmla="val 346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1520" y="535203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535203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EI02TS01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920240" y="534289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Criar sons com materiais, objetos e instrumentos musicais, para acompanhar diversos ritmos de música.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85800" y="582295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588695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30" name="Text 27"/>
          <p:cNvSpPr txBox="1"/>
          <p:nvPr/>
        </p:nvSpPr>
        <p:spPr>
          <a:xfrm>
            <a:off x="2304288" y="587781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cria sons com instrumentos e objetos e acompanha o ritmo das músicas com intenção, variando entre forte e fraco, rápido e devagar.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85800" y="6472555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653656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2304288" y="6527419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explorado instrumentos e objetos sonoros para acompanhar as músicas, aproximando-se progressivamente do ritmo.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85800" y="6960489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702449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2304288" y="7015353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explorado instrumentos musicais livremente, descobrindo os sons que eles produzem. O acompanhamento do ritmo das músicas está em construção.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85800" y="7610094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" y="767410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9" name="Text 36"/>
          <p:cNvSpPr txBox="1"/>
          <p:nvPr/>
        </p:nvSpPr>
        <p:spPr>
          <a:xfrm>
            <a:off x="2304288" y="7664958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Oferecer instrumentos de percussão e objetos sonoros construídos com a turma, propondo brincadeiras de tocar forte/fraco e rápido/devagar.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MATERNAL (EI02) · CAMPO TS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155188"/>
          </a:xfrm>
          <a:prstGeom prst="roundRect">
            <a:avLst>
              <a:gd name="adj" fmla="val 347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EI02TS02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587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Utilizar materiais variados com possibilidades de manipulação (argila, massa de modelar), explorando cores, texturas, superfícies, planos, formas e volumes ao criar objetos tridimensionais.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68478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74879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73964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cria com interesse usando argila, massinha e sucatas: amassa, enrola, faz bolinhas e "cobrinhas", empilha e nomeia o que criou.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334387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39839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389251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explorado materiais de modelagem com crescente intenção, amassando, apertando e começando a dar forma ao que cria.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822321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8632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77185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explorado a massinha e a argila principalmente pelas sensações, tocando, apertando e espalhando, e começa a perceber que pode transformar o material.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71926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3593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526790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Oferecer argila, massinha caseira, caixas e sucatas para construir, com tempo para explorar sem um modelo pronto a ser copiado.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215892"/>
            <a:ext cx="6464808" cy="3163697"/>
          </a:xfrm>
          <a:prstGeom prst="roundRect">
            <a:avLst>
              <a:gd name="adj" fmla="val 346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36219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3621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EI02TS03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353052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Utilizar diferentes fontes sonoras disponíveis no ambiente em brincadeiras cantadas, canções, músicas e melodias.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83311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8971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488797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canta trechos das músicas da turma, acompanha com gestos e objetos sonoros, e propõe as canções preferidas nas brincadeiras.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482717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54672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537581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cantado partes das músicas conhecidas e acompanhado as brincadeiras cantadas com gestos e sons.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5970651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03465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025515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participado das brincadeiras cantadas observando e acompanhando com o corpo. Cantar junto tem surgido aos poucos, especialmente nos refrões.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620256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668426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6675120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Repetir canções com refrões simples, deixar pausas para a criança completar e explorar os sons do ambiente (água, folhas, panelas) como instrumentos.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7525893"/>
            <a:ext cx="6464808" cy="960120"/>
          </a:xfrm>
          <a:prstGeom prst="roundRect">
            <a:avLst>
              <a:gd name="adj" fmla="val 17143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" y="7681341"/>
            <a:ext cx="640080" cy="64008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7822159"/>
            <a:ext cx="358445" cy="358445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554480" y="7690485"/>
            <a:ext cx="5276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CAMPO DE EXPERIÊNCIA · EF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1554480" y="7909941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Escuta, fala, pensamento e imaginação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MATERNAL (EI02) · CAMPO EF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325368"/>
          </a:xfrm>
          <a:prstGeom prst="roundRect">
            <a:avLst>
              <a:gd name="adj" fmla="val 33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EI02EF01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Dialogar com crianças e adultos, expressando seus desejos, necessidades, sentimentos e opiniões.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dialoga com desenvoltura: expressa o que quer e sente com frases, dá opiniões ("eu não gostei", "eu quero essa"), faz perguntas e mantém pequenas conversas.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expressado desejos e sentimentos com palavras e frases curtas, participando de pequenos diálogos com colegas e adultos.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83083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9483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8569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se expressado com palavras soltas, gestos e apontamentos. A equipe tem ampliado suas falas e criado oportunidades de conversa em pequenos grupos.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8043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4444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53529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Conversar individualmente com a criança durante a rotina, perguntar sobre suas preferências e sentimentos e esperar a resposta sem completá-la.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386072"/>
            <a:ext cx="6464808" cy="3002026"/>
          </a:xfrm>
          <a:prstGeom prst="roundRect">
            <a:avLst>
              <a:gd name="adj" fmla="val 365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3237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532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EI02EF02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523232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Identificar e criar diferentes sons e reconhecer rimas e aliterações em cantigas de roda e textos poéticos.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500329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0673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505815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se diverte com as rimas e brincadeiras sonoras: completa versos de parlendas, inventa palavras sonoras e percebe quando duas palavras "combinam".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652897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71690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707761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acompanhado parlendas e cantigas, completando algumas palavras finais e brincando com os sons das palavras.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140831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20483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195695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escutado parlendas e cantigas com atenção e prazer. Completar versos e brincar com rimas tem sido estimulado com a repetição.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790436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685444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6845300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Recitar parlendas, trava-línguas simples e cantigas com rimas, deixando a última palavra para a criança completar.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MATERNAL (EI02) · CAMPO EF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631692"/>
          </a:xfrm>
          <a:prstGeom prst="roundRect">
            <a:avLst>
              <a:gd name="adj" fmla="val 3021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EI02EF03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Demonstrar interesse e atenção ao ouvir a leitura de histórias e outros textos, diferenciando escrita de ilustrações, e acompanhando, com orientação do adulto-leitor, a direção da leitura (de cima para baixo, da esquerda para a direita).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837944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0195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892808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acompanha as histórias com atenção do início ao fim, observa as ilustrações, comenta o que vê e "lê" os livros conhecidos imitando o adulto.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487549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55155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542413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acompanhado as histórias com interesse crescente, permanecendo atento por mais tempo e comentando algumas ilustrações.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3137154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20116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3192018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participado dos momentos de leitura com períodos de atenção que vêm se ampliando, e demonstra preferência por histórias curtas e repetidas.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786759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85076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841623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Ler diariamente, apontando o texto ao ler, mostrando as ilustrações e deixando livros acessíveis para que a criança "leia" sozinha.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692396"/>
            <a:ext cx="6464808" cy="3002026"/>
          </a:xfrm>
          <a:prstGeom prst="roundRect">
            <a:avLst>
              <a:gd name="adj" fmla="val 365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83870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8387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EI02EF04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829556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Formular e responder perguntas sobre fatos da história narrada, identificando cenários, personagens e principais acontecimentos.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5309616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37362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5364480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responde a perguntas sobre as histórias, lembra personagens e acontecimentos e faz suas próprias perguntas ("por que o lobo fez isso?").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959221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602322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6014085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respondido a perguntas simples sobre as histórias, nomeando personagens e lembrando alguns acontecimentos com apoio das imagens.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6608826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67283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663690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acompanhado as histórias e, com o apoio das ilustrações, começa a apontar e nomear personagens quando questionado.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7096760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716076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7151624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Fazer perguntas durante e após a leitura ("quem apareceu?", "o que aconteceu depois?") e incentivar as perguntas das crianças.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MATERNAL (EI02) · CAMPO EF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002026"/>
          </a:xfrm>
          <a:prstGeom prst="roundRect">
            <a:avLst>
              <a:gd name="adj" fmla="val 365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EI02EF05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Relatar experiências e fatos acontecidos, histórias ouvidas, filmes ou peças teatrais assistidos etc.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relata com entusiasmo o que vive: conta o que fez no fim de semana, lembra passeios e reconta trechos de histórias ouvidas.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começado a relatar fatos vividos com frases curtas, especialmente com o apoio de perguntas do adulto.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669159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73316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724023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compartilhado suas experiências com palavras e gestos, e o adulto tem ajudado a organizar esses relatos com perguntas simples.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318764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3827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373628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Criar rodas de novidades, usar fotos das vivências da turma para conversar e perguntar à criança sobre o que fez.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062730"/>
            <a:ext cx="6464808" cy="2771775"/>
          </a:xfrm>
          <a:prstGeom prst="roundRect">
            <a:avLst>
              <a:gd name="adj" fmla="val 3959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0903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20903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EI02EF06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199890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Criar e contar histórias oralmente, com base em imagens ou temas sugeridos.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61137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67537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466623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inventa e conta pequenas histórias a partir de imagens, bonecos e brincadeiras de faz de conta, com personagens e acontecimentos.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260975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32498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315839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criado pequenas narrativas no faz de conta e ao observar imagens, combinando falas e ações.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5748909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81291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5803773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nomeado o que vê nas imagens e começa a criar pequenas cenas no faz de conta, primeiros passos para contar histórias.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236843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6300851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6291707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Oferecer fantoches, livros de imagem e cestos de histórias, convidando a criança a contar "o que está acontecendo".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MATERNAL (EI02) · CAMPO EF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002026"/>
          </a:xfrm>
          <a:prstGeom prst="roundRect">
            <a:avLst>
              <a:gd name="adj" fmla="val 365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EI02EF07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Manusear diferentes portadores textuais, demonstrando reconhecer seus usos sociais.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manuseia livros, revistas e outros portadores com cuidado e reconhece seus usos: "lê" o livro, finge anotar recados e procura receitas na brincadeira de cozinha.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manuseado diferentes portadores com mais cuidado e começa a imitar seus usos no faz de conta.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669159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73316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724023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explorado livros e revistas folheando e observando as imagens. O reconhecimento de seus usos tem sido apresentado nas brincadeiras.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318764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3827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373628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Incluir portadores reais nos cantos de faz de conta (cardápios, receitas, revistas, agendas) e usá-los diante das crianças.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062730"/>
            <a:ext cx="6464808" cy="3155188"/>
          </a:xfrm>
          <a:prstGeom prst="roundRect">
            <a:avLst>
              <a:gd name="adj" fmla="val 347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0903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20903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EI02EF08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199890"/>
            <a:ext cx="4864608" cy="587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Manipular textos e participar de situações de escuta para ampliar seu contato com diferentes gêneros textuais (parlendas, histórias de aventura, tirinhas, cartazes de sala, cardápios, notícias etc.).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83311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8971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488797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participa com interesse da escuta de diferentes gêneros, reconhece parlendas e histórias conhecidas e se interessa por cartazes e textos da sala.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482717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54672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537581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participado de situações de escuta de diferentes textos, demonstrando preferências e reconhecendo alguns deles.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5970651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03465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6025515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tido contato com diferentes textos no dia a dia da turma e participa dos momentos de escuta por períodos que vêm se ampliando.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620256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668426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6675120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Ler diferentes gêneros (receitas, bilhetes, cartazes, poemas, contos) explicando para que serve cada texto.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MATERNAL (EI02) · CAMPO EF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2678684"/>
          </a:xfrm>
          <a:prstGeom prst="roundRect">
            <a:avLst>
              <a:gd name="adj" fmla="val 4096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EI02EF09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Manusear diferentes instrumentos e suportes de escrita para desenhar, traçar letras e outros sinais gráficos.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desenha e rabisca com intenção, nomeia o que desenhou e às vezes faz marcas que diz serem "letras" ou o próprio nome.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019554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08356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074418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produzido rabiscos e garatujas com mais controle e intenção, demonstrando interesse em registrar.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507488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5714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562352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explorado giz, lápis e canetas com gestos amplos, descobrindo as marcas que pode produzir.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2995422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05943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050286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Oferecer variados suportes e riscadores e registrar, junto ao desenho, o que a criança diz sobre ele, valorizando a garatuja.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739388"/>
            <a:ext cx="6464808" cy="960120"/>
          </a:xfrm>
          <a:prstGeom prst="roundRect">
            <a:avLst>
              <a:gd name="adj" fmla="val 17143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894836"/>
            <a:ext cx="640080" cy="64008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4035654"/>
            <a:ext cx="358445" cy="35844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554480" y="3903980"/>
            <a:ext cx="5276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CAMPO DE EXPERIÊNCIA · ET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4123436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Espaços, tempos, quantidades, relações e transformações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4882388"/>
            <a:ext cx="6464808" cy="2840355"/>
          </a:xfrm>
          <a:prstGeom prst="roundRect">
            <a:avLst>
              <a:gd name="adj" fmla="val 3863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1520" y="5028692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50286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EI02ET01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920240" y="5019548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Explorar e descrever semelhanças e diferenças entre as características e propriedades dos objetos (textura, massa, tamanho).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85800" y="5499608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55636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30" name="Text 27"/>
          <p:cNvSpPr txBox="1"/>
          <p:nvPr/>
        </p:nvSpPr>
        <p:spPr>
          <a:xfrm>
            <a:off x="2304288" y="5554472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compara objetos e descreve suas diferenças: "esse é grande", "esse é pesado", "esse é molinho", percebendo semelhanças e diferenças.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85800" y="6149213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6213221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2304288" y="6204077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percebido diferenças entre os objetos e começa a nomeá-las, especialmente tamanho e textura.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85800" y="6637147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670115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2304288" y="6692011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explorado objetos com diferentes características, e o adulto tem nomeado essas diferenças durante a brincadeira.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85800" y="7125081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" y="718908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9" name="Text 36"/>
          <p:cNvSpPr txBox="1"/>
          <p:nvPr/>
        </p:nvSpPr>
        <p:spPr>
          <a:xfrm>
            <a:off x="2304288" y="7179945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Propor explorações com pares contrastantes (grande/pequeno, pesado/leve, áspero/liso) e perguntar à criança "qual é diferente?".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MATERNAL (EI02) · CAMPO ET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2840355"/>
          </a:xfrm>
          <a:prstGeom prst="roundRect">
            <a:avLst>
              <a:gd name="adj" fmla="val 3863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EI02ET02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Observar, relatar e descrever incidentes do cotidiano e fenômenos naturais (luz solar, vento, chuva etc.).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observa os fenômenos naturais e comenta o que vê: "está chovendo", "o vento levou a folha", "a sombra mexeu", e faz perguntas sobre eles.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demonstrado interesse por fenômenos como chuva, vento e sol, apontando e comentando com palavras simples.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669159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73316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724023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vivido experiências ao ar livre e observado a chuva, o vento e as sombras, com o adulto nomeando esses fenômenos.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157093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221101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211957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Levar a turma para observar o tempo, brincar com sombras, sentir o vento com fitas e conversar sobre o que acontece.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901059"/>
            <a:ext cx="6464808" cy="3163697"/>
          </a:xfrm>
          <a:prstGeom prst="roundRect">
            <a:avLst>
              <a:gd name="adj" fmla="val 346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047363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047363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EI02ET03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038219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Compartilhar, com outras crianças, situações de cuidado de plantas e animais nos espaços da instituição e fora dela.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518279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58228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4573143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participa com interesse do cuidado com plantas e animais: rega a horta, observa os bichinhos do pátio e lembra os colegas de cuidar.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167884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23189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222748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participado dos momentos de cuidado com plantas e pequenos animais, demonstrando curiosidade e cuidado crescentes.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5655818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71982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5710682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observado plantas e pequenos animais com curiosidade, e tem sido convidado a participar dos cuidados com o apoio do adulto.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305423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6369431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6360287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Manter vasos ou horta que a turma rega, observar insetos no pátio com lupas e conversar sobre os cuidados que os seres vivos precisam.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33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MATERNAL (EI02) · CAMPO ET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163697"/>
          </a:xfrm>
          <a:prstGeom prst="roundRect">
            <a:avLst>
              <a:gd name="adj" fmla="val 346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EI02ET04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Identificar relações espaciais (dentro e fora, em cima, embaixo, acima, abaixo, entre e do lado) e temporais (antes, durante e depois).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compreende e usa noções de espaço e tempo: guarda o brinquedo "dentro" da caixa, sabe que "depois do lanche" vem o parque e antecipa os momentos da rotina.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compreendido algumas noções de espaço e tempo, como dentro/fora e antes/depois, especialmente quando ligadas à rotina.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830830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9483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885694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vivido as noções de espaço e tempo nas brincadeiras e na rotina, e o adulto tem nomeado essas relações durante o dia.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318764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3827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373628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Usar a rotina ilustrada da turma, antecipar os momentos ("depois do lanche, vamos ao pátio") e brincar de esconder objetos dentro, fora, em cima e embaixo.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224401"/>
            <a:ext cx="6464808" cy="2840355"/>
          </a:xfrm>
          <a:prstGeom prst="roundRect">
            <a:avLst>
              <a:gd name="adj" fmla="val 3863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370705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370705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EI02ET05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361561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Classificar objetos, considerando determinado atributo (tamanho, peso, cor, forma etc.).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841621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90562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4896485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separa e agrupa objetos por cor, tamanho ou tipo com autonomia, e explica seu critério: "aqui só os azuis".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329555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39356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384419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começado a agrupar objetos por algum atributo, como a cor, especialmente quando o adulto propõe.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5817489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88149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5872353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manipulado coleções de objetos e, com mediação, começa a perceber que alguns "são iguais".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305423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6369431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6360287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Oferecer coleções (tampinhas, blocos, bichinhos) e potes para separar, propondo brincadeiras como "vamos guardar todos os vermelhos aqui".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34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MATERNAL (EI02) · CAMPO ET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002026"/>
          </a:xfrm>
          <a:prstGeom prst="roundRect">
            <a:avLst>
              <a:gd name="adj" fmla="val 365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EI02ET06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Utilizar conceitos básicos de tempo (agora, antes, durante, depois, ontem, hoje, amanhã, lento, rápido, depressa, devagar).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31620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56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586484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utiliza palavras de tempo nas conversas ("ontem eu fui...", "depois a gente vai...") e compreende rápido/devagar nas brincadeiras.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81225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523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236089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começado a usar algumas palavras relacionadas ao tempo e compreende as noções de rápido e devagar nas brincadeiras.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669159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73316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724023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vivido as noções de tempo pela rotina e pelas brincadeiras de rápido e devagar, com o adulto nomeando essas situações.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318764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3827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373628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Brincar de "rápido e devagar" com músicas e movimentos, e conversar sobre o que aconteceu "antes", "agora" e "depois".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062730"/>
            <a:ext cx="6464808" cy="2610104"/>
          </a:xfrm>
          <a:prstGeom prst="roundRect">
            <a:avLst>
              <a:gd name="adj" fmla="val 420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0903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20903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EI02ET07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199890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Contar oralmente objetos, pessoas, livros etc., em contextos diversos.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611370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67537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4666234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recita a sequência numérica em brincadeiras e conta pequenas quantidades de objetos apontando um a um.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5099304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1633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304288" y="5154168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participado de contagens nas brincadeiras e na rotina, recitando alguns números, ainda que nem sempre em sequência.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5587238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65124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5642102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participado das contagens feitas pelo grupo, como contar os colegas na roda, observando e repetindo alguns números.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6075172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613918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04288" y="6130036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Contar em situações reais (colegas presentes, copos do lanche, degraus) e usar parlendas e músicas com números.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MATERNAL (EI02) · CAMPO ET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3155188"/>
          </a:xfrm>
          <a:prstGeom prst="roundRect">
            <a:avLst>
              <a:gd name="adj" fmla="val 347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0704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EI02ET08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51560"/>
            <a:ext cx="4864608" cy="587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Registrar com números a quantidade de crianças (meninas e meninos, presentes e ausentes) e a quantidade de objetos da mesma natureza (bonecas, bolas, livros etc.).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684782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74879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DEMONSTRA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739646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participa do registro de quantidades da turma, ajuda a contar os presentes e se interessa pelos números escritos no calendário e nos cartazes.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334387"/>
            <a:ext cx="6190488" cy="594741"/>
          </a:xfrm>
          <a:prstGeom prst="roundRect">
            <a:avLst>
              <a:gd name="adj" fmla="val 123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398395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DESENVOLVIMENTO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389251"/>
            <a:ext cx="4389120" cy="53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acompanhado os registros de quantidade feitos pela turma, como o quadro de presença, e começa a se interessar pelos números.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983992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0480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INICIANDO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3038856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participado dos momentos de chamada e registro coletivo, observando e contribuindo com a mediação do adulto.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71926"/>
            <a:ext cx="6190488" cy="433070"/>
          </a:xfrm>
          <a:prstGeom prst="roundRect">
            <a:avLst>
              <a:gd name="adj" fmla="val 16891"/>
            </a:avLst>
          </a:prstGeom>
          <a:solidFill>
            <a:srgbClr val="DFE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3593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 PASSO DA EQUIPE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3526790"/>
            <a:ext cx="4389120" cy="37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Fazer a chamada com fotos ou fichas, contar os presentes e registrar no quadro diante das crianças, nomeando os números.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36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ROTINA E CUIDADOS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Rotina e cuidados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64808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 creche, cuidar e educar são indissociáveis. Alimentação, sono, higiene e trocas são momentos de aprendizagem e devem aparecer no relatório, sempre com foco nas conquistas de autonomia.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6970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7C9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Alimentação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84170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003042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demonstra prazer nos momentos de alimentação, experimenta novos alimentos e tem conquistado autonomia para comer com a colher e beber no copo.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608578"/>
            <a:ext cx="6464808" cy="803148"/>
          </a:xfrm>
          <a:prstGeom prst="roundRect">
            <a:avLst>
              <a:gd name="adj" fmla="val 1366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727450"/>
            <a:ext cx="60076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Nos momentos de alimentação, [NOME] tem experimentado novos sabores e texturas aos poucos. Aceita bem [alimentos] e tem sido incentivado a provar novos alimentos, sem pressão.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503166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622038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alimenta-se com autonomia, servindo-se com ajuda, e participa das conversas à mesa com os colegas.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5227574"/>
            <a:ext cx="6464808" cy="803148"/>
          </a:xfrm>
          <a:prstGeom prst="roundRect">
            <a:avLst>
              <a:gd name="adj" fmla="val 1366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346446"/>
            <a:ext cx="60076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ainda demonstra preferência por alguns alimentos e resistência a outros, o que é comum nesta fase. A equipe oferece os alimentos repetidas vezes, de forma tranquila, respeitando os sinais de saciedade da criança.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167882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7C9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Sono e descanso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625082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6743954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descansa com tranquilidade no momento do sono, adormecendo com facilidade e acordando bem-disposto.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7349490"/>
            <a:ext cx="6464808" cy="803148"/>
          </a:xfrm>
          <a:prstGeom prst="roundRect">
            <a:avLst>
              <a:gd name="adj" fmla="val 1366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7468362"/>
            <a:ext cx="60076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construído uma relação mais tranquila com o momento do descanso. Com a presença próxima do adulto e um ambiente acolhedor, tem conseguido relaxar e adormecer.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8244078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8362950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Nem sempre [NOME] dorme no período de descanso, e esse ritmo é respeitado: a criança permanece em momento tranquilo, com livros ou brinquedos calmos.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ROTINA E CUIDADOS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7C9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Higiene e trocas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colabora nos momentos de troca e higiene, antecipando os gestos e demonstrando conforto nesses momentos de relação com o adulto.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141728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60600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lava as mãos com autonomia antes das refeições e após as brincadeiras, e demonstra interesse em cuidar da própria aparência diante do espelho.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11856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7C9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Desfralde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69056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487928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iniciou o processo de desfralde neste semestre, em parceria com a família. Já comunica quando precisa ir ao banheiro e tem vivido essa conquista com orgulho.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4093464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12336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concluiu o processo de desfralde durante o dia e utiliza o banheiro com autonomia, pedindo ajuda quando necessário.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817872"/>
            <a:ext cx="6464808" cy="803148"/>
          </a:xfrm>
          <a:prstGeom prst="roundRect">
            <a:avLst>
              <a:gd name="adj" fmla="val 1366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936744"/>
            <a:ext cx="60076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demonstrado os primeiros sinais de interesse pelo banheiro, como observar os colegas e avisar quando a fralda está suja. O processo de desfralde será iniciado em conversa com a família, respeitando o tempo da criança.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38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SITUAÇÕES DELICADAS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Situações delicadas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64808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Algumas situações exigem cuidado redobrado na escrita. Descreva fatos (o que aconteceu, quando, como a equipe agiu), nunca rótulos. Mostre que a situação está sendo acompanhada e qual é o próximo passo.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6970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7C9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Mordidas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84170"/>
            <a:ext cx="6464808" cy="795909"/>
          </a:xfrm>
          <a:prstGeom prst="roundRect">
            <a:avLst>
              <a:gd name="adj" fmla="val 13787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012186"/>
            <a:ext cx="6007608" cy="61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escrever: </a:t>
            </a:r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Morder é comum entre 1 e 3 anos: a criança ainda não tem palavras suficientes para expressar frustração ou desejo. Nunca use "agressivo". Descreva o contexto e a mediação.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3789807"/>
            <a:ext cx="6464808" cy="1313688"/>
          </a:xfrm>
          <a:prstGeom prst="roundRect">
            <a:avLst>
              <a:gd name="adj" fmla="val 8353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908679"/>
            <a:ext cx="6007608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alguns momentos de disputa por brinquedos ou de muita agitação no grupo, [NOME] utilizou a mordida para se expressar, comportamento comum nesta faixa etária, em que a linguagem oral ainda está em construção. A equipe tem acompanhado de perto essas situações, ajudando a criança a nomear o que sente e oferecendo palavras e gestos alternativos ("é meu", "não gostei"). Ao longo do semestre, essas situações tornaram-se menos frequentes.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5194935"/>
            <a:ext cx="6464808" cy="973328"/>
          </a:xfrm>
          <a:prstGeom prst="roundRect">
            <a:avLst>
              <a:gd name="adj" fmla="val 11273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5313807"/>
            <a:ext cx="6007608" cy="790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passou por um período em que mordeu colegas em situações de conflito. Em parceria com a família, a equipe observou os momentos em que isso acontecia, reorganizou o espaço para diminuir as disputas e acompanhou a criança mais de perto. Hoje [NOME] já busca o adulto ou usa palavras quando algo a incomoda.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305423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7C9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Choro na despedida / separação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762623"/>
            <a:ext cx="6464808" cy="634238"/>
          </a:xfrm>
          <a:prstGeom prst="roundRect">
            <a:avLst>
              <a:gd name="adj" fmla="val 17301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6890639"/>
            <a:ext cx="6007608" cy="451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escrever: </a:t>
            </a:r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choro na separação é sinal de vínculo, não de problema. Mostre a evolução e o que ajuda a criança.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7506589"/>
            <a:ext cx="6464808" cy="973328"/>
          </a:xfrm>
          <a:prstGeom prst="roundRect">
            <a:avLst>
              <a:gd name="adj" fmla="val 11273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7625461"/>
            <a:ext cx="6007608" cy="790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ainda demonstra tristeza no momento da despedida da família, o que é esperado e revela o vínculo afetivo que a criança tem com as pessoas de casa. Após a chegada, com o acolhimento do adulto de referência, [NOME] se acalma e passa a participar da rotina. Despedidas breves e previsíveis têm ajudado nesse processo.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8617077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7C9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Conflitos e disputas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39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SITUAÇÕES DELICADAS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64808" cy="634238"/>
          </a:xfrm>
          <a:prstGeom prst="roundRect">
            <a:avLst>
              <a:gd name="adj" fmla="val 17301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042416"/>
            <a:ext cx="6007608" cy="451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escrever: </a:t>
            </a:r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Disputas fazem parte da convivência entre crianças pequenas. Fale da mediação e dos avanços, não de "bater" ou "brigar".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58366"/>
            <a:ext cx="6464808" cy="973328"/>
          </a:xfrm>
          <a:prstGeom prst="roundRect">
            <a:avLst>
              <a:gd name="adj" fmla="val 11273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77238"/>
            <a:ext cx="6007608" cy="790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vive com intensidade as situações de disputa, característica desta fase em que a criança está aprendendo a lidar com a frustração e a esperar. Com a mediação da equipe, tem aprendido a expressar o que deseja com palavras e a aceitar alternativas, e tem conseguido resolver algumas situações com mais tranquilidade.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68854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7C9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Criança que ainda não fala (ou fala pouco)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26054"/>
            <a:ext cx="6464808" cy="795909"/>
          </a:xfrm>
          <a:prstGeom prst="roundRect">
            <a:avLst>
              <a:gd name="adj" fmla="val 13787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354070"/>
            <a:ext cx="6007608" cy="61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escrever: </a:t>
            </a:r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Descreva TODAS as formas de comunicação da criança. Se houver preocupação real, registre fatos e converse com a coordenação antes de escrever; o relatório não é lugar de diagnóstico.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4131691"/>
            <a:ext cx="6464808" cy="973328"/>
          </a:xfrm>
          <a:prstGeom prst="roundRect">
            <a:avLst>
              <a:gd name="adj" fmla="val 11273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250563"/>
            <a:ext cx="6007608" cy="790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se comunica principalmente por gestos, olhares, apontamentos e algumas palavras, e compreende bem o que lhe é dito: atende a pedidos simples, reconhece nomes de objetos e pessoas e participa das brincadeiras. A equipe tem ampliado as oportunidades de conversa, nomeando objetos e ações e valorizando cada tentativa de fala.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42179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7C9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Criança que ainda não anda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699379"/>
            <a:ext cx="6464808" cy="634238"/>
          </a:xfrm>
          <a:prstGeom prst="roundRect">
            <a:avLst>
              <a:gd name="adj" fmla="val 17301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827395"/>
            <a:ext cx="6007608" cy="451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escrever: </a:t>
            </a:r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tempo de cada criança para andar varia bastante. Descreva como ela se desloca e explora.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6443345"/>
            <a:ext cx="6464808" cy="803148"/>
          </a:xfrm>
          <a:prstGeom prst="roundRect">
            <a:avLst>
              <a:gd name="adj" fmla="val 1366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6562217"/>
            <a:ext cx="60076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se desloca pelo espaço engatinhando com agilidade e tem se colocado de pé com apoio dos móveis. A equipe organiza o ambiente para favorecer essas conquistas, sem apressar etapas, respeitando o tempo da criança.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7383653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7C9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Faltas frequentes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7840853"/>
            <a:ext cx="6464808" cy="472567"/>
          </a:xfrm>
          <a:prstGeom prst="roundRect">
            <a:avLst>
              <a:gd name="adj" fmla="val 23220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7968869"/>
            <a:ext cx="6007608" cy="289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escrever: </a:t>
            </a:r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Registre o impacto na continuidade, sem culpabilizar a família.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8423148"/>
            <a:ext cx="6464808" cy="973328"/>
          </a:xfrm>
          <a:prstGeom prst="roundRect">
            <a:avLst>
              <a:gd name="adj" fmla="val 11273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8542020"/>
            <a:ext cx="6007608" cy="790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Neste semestre, [NOME] teve algumas ausências, o que reduziu o tempo de convivência com o grupo e a continuidade de algumas propostas. Nos períodos em que esteve presente, a criança participou da rotina e das vivências da turma, e as observações deste relatório referem-se a esses momentos.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40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SITUAÇÕES DELICADAS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6F5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Sinais de atenção (sem diagnosticar)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64808" cy="957580"/>
          </a:xfrm>
          <a:prstGeom prst="roundRect">
            <a:avLst>
              <a:gd name="adj" fmla="val 11459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45336"/>
            <a:ext cx="6007608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escrever: </a:t>
            </a:r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 você observou algo que preocupa, NÃO escreva hipóteses de diagnóstico ("parece autista", "tem TDAH", "atraso"). Registre fatos com datas em sua ficha, converse com a coordenação e combine com ela como e quando conversar com a família. No relatório, descreva o que a criança faz e o que a equipe tem oferecido.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2484628"/>
            <a:ext cx="6464808" cy="1143508"/>
          </a:xfrm>
          <a:prstGeom prst="roundRect">
            <a:avLst>
              <a:gd name="adj" fmla="val 9596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03500"/>
            <a:ext cx="6007608" cy="960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demonstra interesse especial por [interesse] e prefere brincar de forma individual, mantendo-se concentrado por longos períodos. A equipe tem criado oportunidades de interação a partir desses interesses, convidando colegas a brincar junto, e segue acompanhando de perto as formas de comunicação e interação da criança, em diálogo com a família.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65296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7C9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Criança com deficiência ou laudo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222496"/>
            <a:ext cx="6464808" cy="795909"/>
          </a:xfrm>
          <a:prstGeom prst="roundRect">
            <a:avLst>
              <a:gd name="adj" fmla="val 13787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350512"/>
            <a:ext cx="6007608" cy="61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escrever: </a:t>
            </a:r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relatório fala da criança, não do laudo. Descreva conquistas, interesses e apoios que funcionam. Mencione o trabalho conjunto com AEE/terapeutas apenas se a família autorizou.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5128133"/>
            <a:ext cx="6464808" cy="973328"/>
          </a:xfrm>
          <a:prstGeom prst="roundRect">
            <a:avLst>
              <a:gd name="adj" fmla="val 11273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5247005"/>
            <a:ext cx="6007608" cy="790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participa da rotina da turma com os apoios de que precisa e tem conquistado avanços importantes neste semestre, como [conquista]. A criança demonstra prazer em [interesse] e responde bem quando [estratégia que funciona]. A equipe segue trabalhando em parceria com a família e com os profissionais que acompanham [NOME].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41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FECHAMENTO: CONQUISTAS E PRÓXIMOS PASSOS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464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Fechamento: conquistas e próximos passos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6464808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último parágrafo retoma as principais conquistas, aponta o que será proposto a seguir e convida a família à parceria. Termine sempre com uma nota afetiva e verdadeira.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9890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7C9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Conquistas do semestre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387090"/>
            <a:ext cx="6464808" cy="803148"/>
          </a:xfrm>
          <a:prstGeom prst="roundRect">
            <a:avLst>
              <a:gd name="adj" fmla="val 1366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505962"/>
            <a:ext cx="60076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Este semestre foi marcado por conquistas importantes para [NOME], especialmente [conquista 1] e [conquista 2]. A criança tem demonstrado cada vez mais confiança para explorar o mundo e se relacionar com o grupo.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4281678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400550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Ao longo do semestre, foi bonito acompanhar [NOME] conquistando [conquista], resultado do seu esforço e da sua curiosidade.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51806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7C9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Próximos passos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509006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5627878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próximo semestre, seguiremos oferecendo experiências que ampliem [área], como [proposta], respeitando o ritmo e os interesses de [NOME].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6233414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6352286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próximos passos, a equipe pretende ampliar as oportunidades de [área], incentivando [NOME] a [ação], sempre a partir do que a criança já conquistou.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7003542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7C9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Parceria com a família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7460742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7579614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Agradecemos a parceria da família, que tem sido fundamental para o desenvolvimento de [NOME]. Seguimos juntos!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8185150"/>
            <a:ext cx="6464808" cy="803148"/>
          </a:xfrm>
          <a:prstGeom prst="roundRect">
            <a:avLst>
              <a:gd name="adj" fmla="val 1366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8304022"/>
            <a:ext cx="6007608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casa, a família pode contribuir [sugestão simples: lendo histórias antes de dormir, incentivando a criança a comer sozinha, conversando sobre o dia]. Contamos com essa parceria para continuar acompanhando as descobertas de [NOME].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9079738"/>
            <a:ext cx="6464808" cy="632968"/>
          </a:xfrm>
          <a:prstGeom prst="roundRect">
            <a:avLst>
              <a:gd name="adj" fmla="val 1733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9198610"/>
            <a:ext cx="6007608" cy="45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Foi uma alegria acompanhar [NOME] neste semestre. Agradecemos a confiança da família e seguimos à disposição para conversar.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42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LINGUAGEM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Troque isto por isto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64808" cy="502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Rótulos e frases negativas ferem a criança e a família. Estas trocas mantêm a verdade com respeito.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94052"/>
            <a:ext cx="2240280" cy="795909"/>
          </a:xfrm>
          <a:prstGeom prst="roundRect">
            <a:avLst>
              <a:gd name="adj" fmla="val 13787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2194052"/>
            <a:ext cx="4087368" cy="795909"/>
          </a:xfrm>
          <a:prstGeom prst="roundRect">
            <a:avLst>
              <a:gd name="adj" fmla="val 13787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052"/>
            <a:ext cx="1874520" cy="795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é agressivo.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194052"/>
            <a:ext cx="3721608" cy="795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situações de disputa, [NOME] ainda usa o corpo para se expressar; a equipe tem oferecido palavras e alternativas.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3081401"/>
            <a:ext cx="2240280" cy="634238"/>
          </a:xfrm>
          <a:prstGeom prst="roundRect">
            <a:avLst>
              <a:gd name="adj" fmla="val 17301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3081401"/>
            <a:ext cx="4087368" cy="634238"/>
          </a:xfrm>
          <a:prstGeom prst="roundRect">
            <a:avLst>
              <a:gd name="adj" fmla="val 17301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081401"/>
            <a:ext cx="1874520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não sabe falar.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3081401"/>
            <a:ext cx="3721608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se comunica por gestos, olhares e algumas palavras, e compreende bem o que lhe é dito.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807079"/>
            <a:ext cx="2240280" cy="795909"/>
          </a:xfrm>
          <a:prstGeom prst="roundRect">
            <a:avLst>
              <a:gd name="adj" fmla="val 13787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3807079"/>
            <a:ext cx="4087368" cy="795909"/>
          </a:xfrm>
          <a:prstGeom prst="roundRect">
            <a:avLst>
              <a:gd name="adj" fmla="val 13787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807079"/>
            <a:ext cx="1874520" cy="795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é muito chorão.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3807079"/>
            <a:ext cx="3721608" cy="795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expressa suas emoções com intensidade e tem encontrado no adulto de referência o acolhimento de que precisa.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694428"/>
            <a:ext cx="2240280" cy="634238"/>
          </a:xfrm>
          <a:prstGeom prst="roundRect">
            <a:avLst>
              <a:gd name="adj" fmla="val 17301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4694428"/>
            <a:ext cx="4087368" cy="634238"/>
          </a:xfrm>
          <a:prstGeom prst="roundRect">
            <a:avLst>
              <a:gd name="adj" fmla="val 17301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694428"/>
            <a:ext cx="1874520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é hiperativo / não para quieto.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4694428"/>
            <a:ext cx="3721608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muita energia para explorar o espaço e se envolve especialmente nas brincadeiras de movimento.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5420106"/>
            <a:ext cx="2240280" cy="634238"/>
          </a:xfrm>
          <a:prstGeom prst="roundRect">
            <a:avLst>
              <a:gd name="adj" fmla="val 17301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5420106"/>
            <a:ext cx="4087368" cy="634238"/>
          </a:xfrm>
          <a:prstGeom prst="roundRect">
            <a:avLst>
              <a:gd name="adj" fmla="val 17301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420106"/>
            <a:ext cx="1874520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não come nada.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108960" y="5420106"/>
            <a:ext cx="3721608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experimentado novos alimentos aos poucos e aceita bem [alimentos].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6145784"/>
            <a:ext cx="2240280" cy="634238"/>
          </a:xfrm>
          <a:prstGeom prst="roundRect">
            <a:avLst>
              <a:gd name="adj" fmla="val 17301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145784"/>
            <a:ext cx="4087368" cy="634238"/>
          </a:xfrm>
          <a:prstGeom prst="roundRect">
            <a:avLst>
              <a:gd name="adj" fmla="val 17301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6145784"/>
            <a:ext cx="1874520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é tímido.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108960" y="6145784"/>
            <a:ext cx="3721608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prefere observar as situações antes de participar e, quando se sente seguro, envolve-se com interesse.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6871462"/>
            <a:ext cx="2240280" cy="795909"/>
          </a:xfrm>
          <a:prstGeom prst="roundRect">
            <a:avLst>
              <a:gd name="adj" fmla="val 13787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0" y="6871462"/>
            <a:ext cx="4087368" cy="795909"/>
          </a:xfrm>
          <a:prstGeom prst="roundRect">
            <a:avLst>
              <a:gd name="adj" fmla="val 13787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6871462"/>
            <a:ext cx="1874520" cy="795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é birrento / faz birra.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3108960" y="6871462"/>
            <a:ext cx="3721608" cy="795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ainda vive as frustrações com intensidade, o que é próprio da idade; com a mediação do adulto, tem conseguido se reorganizar.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7758811"/>
            <a:ext cx="2240280" cy="634238"/>
          </a:xfrm>
          <a:prstGeom prst="roundRect">
            <a:avLst>
              <a:gd name="adj" fmla="val 17301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0" y="7758811"/>
            <a:ext cx="4087368" cy="634238"/>
          </a:xfrm>
          <a:prstGeom prst="roundRect">
            <a:avLst>
              <a:gd name="adj" fmla="val 17301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7758811"/>
            <a:ext cx="1874520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não consegue...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3108960" y="7758811"/>
            <a:ext cx="3721608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começado a... / Com o apoio do adulto, [NOME] tem...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8484489"/>
            <a:ext cx="2240280" cy="795909"/>
          </a:xfrm>
          <a:prstGeom prst="roundRect">
            <a:avLst>
              <a:gd name="adj" fmla="val 13787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484489"/>
            <a:ext cx="4087368" cy="795909"/>
          </a:xfrm>
          <a:prstGeom prst="roundRect">
            <a:avLst>
              <a:gd name="adj" fmla="val 13787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" y="8484489"/>
            <a:ext cx="1874520" cy="795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atraso na fala.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3108960" y="8484489"/>
            <a:ext cx="3721608" cy="795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se comunica principalmente por... A equipe tem ampliado as oportunidades de conversa. (Preocupações: registre fatos e converse com a coordenação.)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43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LINGUAGEM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240280" cy="634238"/>
          </a:xfrm>
          <a:prstGeom prst="roundRect">
            <a:avLst>
              <a:gd name="adj" fmla="val 17301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914400"/>
            <a:ext cx="4087368" cy="634238"/>
          </a:xfrm>
          <a:prstGeom prst="roundRect">
            <a:avLst>
              <a:gd name="adj" fmla="val 17301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914400"/>
            <a:ext cx="1874520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é o mais esperto da turma.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914400"/>
            <a:ext cx="3721608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demonstra grande curiosidade e resolve desafios com criatividade. (Nunca compare crianças.)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640078"/>
            <a:ext cx="2240280" cy="634238"/>
          </a:xfrm>
          <a:prstGeom prst="roundRect">
            <a:avLst>
              <a:gd name="adj" fmla="val 17301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640078"/>
            <a:ext cx="4087368" cy="634238"/>
          </a:xfrm>
          <a:prstGeom prst="roundRect">
            <a:avLst>
              <a:gd name="adj" fmla="val 17301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40078"/>
            <a:ext cx="1874520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fez todas as atividades.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1640078"/>
            <a:ext cx="3721608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Descreva COMO a criança participou: o que fez, o que disse, o que descobriu.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365756"/>
            <a:ext cx="2240280" cy="634238"/>
          </a:xfrm>
          <a:prstGeom prst="roundRect">
            <a:avLst>
              <a:gd name="adj" fmla="val 17301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2365756"/>
            <a:ext cx="4087368" cy="634238"/>
          </a:xfrm>
          <a:prstGeom prst="roundRect">
            <a:avLst>
              <a:gd name="adj" fmla="val 17301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365756"/>
            <a:ext cx="1874520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é bonzinho / comportado.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2365756"/>
            <a:ext cx="3721608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respeita os combinados da turma e demonstra cuidado com os colegas.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091434"/>
            <a:ext cx="2240280" cy="634238"/>
          </a:xfrm>
          <a:prstGeom prst="roundRect">
            <a:avLst>
              <a:gd name="adj" fmla="val 17301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3091434"/>
            <a:ext cx="4087368" cy="634238"/>
          </a:xfrm>
          <a:prstGeom prst="roundRect">
            <a:avLst>
              <a:gd name="adj" fmla="val 17301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091434"/>
            <a:ext cx="1874520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mãe não colabora.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3091434"/>
            <a:ext cx="3721608" cy="63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Seguimos contando com a parceria da família para... (Conflitos com a família não entram no relatório.)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817112"/>
            <a:ext cx="2240280" cy="795909"/>
          </a:xfrm>
          <a:prstGeom prst="roundRect">
            <a:avLst>
              <a:gd name="adj" fmla="val 13787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3817112"/>
            <a:ext cx="4087368" cy="795909"/>
          </a:xfrm>
          <a:prstGeom prst="roundRect">
            <a:avLst>
              <a:gd name="adj" fmla="val 13787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817112"/>
            <a:ext cx="1874520" cy="795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ainda usa fralda.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3817112"/>
            <a:ext cx="3721608" cy="795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tem demonstrado os primeiros sinais de interesse pelo banheiro; o desfralde será construído junto com a família, no tempo da criança.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44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BANCO DE FRASES · LINGUAGEM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Verbos, expressões e conectivos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64808" cy="1437132"/>
          </a:xfrm>
          <a:prstGeom prst="roundRect">
            <a:avLst>
              <a:gd name="adj" fmla="val 11453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01952"/>
            <a:ext cx="6007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F6F5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Para descrever o que a criança faz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67712"/>
            <a:ext cx="6007608" cy="797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  ·  investiga  ·  experimenta  ·  observa  ·  manipula  ·  constrói  ·  cria  ·  imita  ·  reproduz  ·  transporta  ·  empilha  ·  encaixa  ·  escala  ·  desloca-se  ·  participa  ·  interage  ·  compartilha  ·  demonstra  ·  expressa  ·  comunica  ·  escolhe  ·  propõe  ·  nomeia  ·  relata  ·  reconhece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357372"/>
            <a:ext cx="6464808" cy="1258443"/>
          </a:xfrm>
          <a:prstGeom prst="roundRect">
            <a:avLst>
              <a:gd name="adj" fmla="val 13079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1964"/>
            <a:ext cx="6007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A58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Para mostrar processo (em desenvolvimento)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87724"/>
            <a:ext cx="6007608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tem ampliado  ·  tem começado a  ·  vem construindo  ·  tem experimentado  ·  está descobrindo  ·  tem conquistado  ·  gradualmente  ·  progressivamente  ·  cada vez mais  ·  aos poucos  ·  no seu tempo  ·  com o apoio do adulto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798695"/>
            <a:ext cx="6464808" cy="1258443"/>
          </a:xfrm>
          <a:prstGeom prst="roundRect">
            <a:avLst>
              <a:gd name="adj" fmla="val 13079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963287"/>
            <a:ext cx="6007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86D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Para mostrar intenção pedagógica (o que a equipe faz)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329047"/>
            <a:ext cx="6007608" cy="61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equipe tem oferecido  ·  foram propostas  ·  organizamos o espaço para  ·  temos incentivado  ·  a mediação do adulto  ·  seguiremos ampliando  ·  temos acompanhado de perto  ·  em parceria com a família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6240018"/>
            <a:ext cx="6464808" cy="1437132"/>
          </a:xfrm>
          <a:prstGeom prst="roundRect">
            <a:avLst>
              <a:gd name="adj" fmla="val 11453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6404610"/>
            <a:ext cx="6007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A67C9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Conectivos para costurar o texto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6770370"/>
            <a:ext cx="6007608" cy="797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Além disso,  ·  Nesse sentido,  ·  Ao longo do semestre,  ·  Nos momentos de...,  ·  Durante as brincadeiras,  ·  Com o tempo,  ·  Aos poucos,  ·  Também foi possível observar que  ·  Por outro lado,  ·  Em relação a...,  ·  Vale destacar que  ·  Dessa forma,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Banco de Frases BNCC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45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594360" cy="59436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5646" y="1001268"/>
            <a:ext cx="380390" cy="38039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559966"/>
            <a:ext cx="427939" cy="427939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4518" y="1536192"/>
            <a:ext cx="285293" cy="285293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96796" y="1155802"/>
            <a:ext cx="237744" cy="237744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ENCERRAR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As palavras certas ajudam. O seu olhar é o que torna cada relatório único.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 as frases como ponto de partida, nunca como texto final. Troque [NOME], ajuste a concordância e acrescente sempre um fato ou uma fala real da criança. Assim, cada família reconhece o próprio filho no relatório.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623560"/>
            <a:ext cx="6464808" cy="3977640"/>
          </a:xfrm>
          <a:prstGeom prst="roundRect">
            <a:avLst>
              <a:gd name="adj" fmla="val 4138"/>
            </a:avLst>
          </a:prstGeom>
          <a:solidFill>
            <a:srgbClr val="3A3660"/>
          </a:solidFill>
          <a:ln w="12700">
            <a:solidFill>
              <a:srgbClr val="3A36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5852160"/>
            <a:ext cx="582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FONTES CONSULTADAS NA ELABORAÇÃO DESTE MATERIAL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6217920"/>
            <a:ext cx="58247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MEC. Base Nacional Comum Curricular: Educação Infantil. Brasília: MEC, 2017.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Lei nº 9.394/1996 (LDB), art. 31, com redação da Lei nº 12.796/2013.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CNE/CEB. Resolução nº 5/2009. Diretrizes Curriculares Nacionais para a Educação Infantil.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HOFFMANN, J. Avaliação e educação infantil: um olhar sensível e reflexivo sobre a criança. Porto Alegre: Mediação.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Ministério da Saúde. Caderneta da Criança (edição vigente).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FOCHI, P. Afinal, o que os bebês fazem no berçário? Porto Alegre: Penso, 2015.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FALK, J. (org.). Educar os três primeiros anos: a experiência de Lóczy. Araraquara: Junqueira &amp; Marin.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MEC. Práticas cotidianas na Educação Infantil: bases para a reflexão sobre as orientações curriculares. Brasília: MEC/SEB, 2009.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9098280"/>
            <a:ext cx="5824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Os textos dos objetivos de aprendizagem foram transcritos da BNCC (2017). As frases descritivas são autorais, elaboradas a partir dessas fontes.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99212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Material de apoio pedagógico para uso individual. Proibida a revenda ou distribuição.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edok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Frases BNCC · Kit Relatórios da Creche</dc:title>
  <dc:subject>PptxGenJS Presentation</dc:subject>
  <dc:creator>Kit Relatórios da Creche</dc:creator>
  <cp:lastModifiedBy>Kit Relatórios da Creche</cp:lastModifiedBy>
  <cp:revision>1</cp:revision>
  <dcterms:created xsi:type="dcterms:W3CDTF">2026-10-14T18:47:29Z</dcterms:created>
  <dcterms:modified xsi:type="dcterms:W3CDTF">2026-10-14T18:47:29Z</dcterms:modified>
</cp:coreProperties>
</file>