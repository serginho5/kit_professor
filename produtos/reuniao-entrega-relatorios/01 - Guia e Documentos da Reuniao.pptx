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2140d5c-be4e-50eb-057a-7cf5ee292ec7}">
          <p14:sldIdLst>
            <p14:sldId id="256"/>
            <p14:sldId id="257"/>
            <p14:sldId id="258"/>
            <p14:sldId id="259"/>
          </p14:sldIdLst>
        </p14:section>
        <p14:section name="Documentos" id="{89eb7ca9-eecf-f2e6-14e6-eae54f217d8e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ncerramento" id="{1adfad3b-adca-591a-d93c-827cc051900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731520"/>
            <a:ext cx="2834640" cy="283464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1188720" cy="118872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3108960"/>
            <a:ext cx="914400" cy="9144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3931920"/>
            <a:ext cx="731520" cy="73152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548640"/>
            <a:ext cx="502920" cy="50292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463040"/>
            <a:ext cx="1371600" cy="137160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484" y="1723644"/>
            <a:ext cx="850392" cy="8503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0749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COMPLEMENTO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Reunião de entrega dos relatórios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73152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Tudo para preparar, conduzir e registrar a reunião com as famílias: roteiro, frases para conversas delicadas, convites, documentos e uma apresentação da turma editável no Canva.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96926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Guia da reunião · 8 documentos para imprimir · apresentação 16:9 editável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GUIA DA REUNIÃO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Roteiro de 40 minutos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64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LDB (art. 31) pede que a creche documente o desenvolvimento das crianças, e as Diretrizes Curriculares (Resolução CNE/CEB nº 5/2009, art. 10) pedem que essa documentação permita às famílias conhecer o trabalho da instituição. A reunião de entrega é o momento em que isso acontece de verdade: o relatório vira conversa.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6464808" cy="1170432"/>
          </a:xfrm>
          <a:prstGeom prst="roundRect">
            <a:avLst>
              <a:gd name="adj" fmla="val 1406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825496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966314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min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272491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Acolhida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3108960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Receba as famílias pelo nome, com música da turma tocando e fotos expostas. Passe a lista de presença.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6464808" cy="1170432"/>
          </a:xfrm>
          <a:prstGeom prst="roundRect">
            <a:avLst>
              <a:gd name="adj" fmla="val 1406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105656"/>
            <a:ext cx="640080" cy="64008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4246474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min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377440" y="400507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turma no semestre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4389120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Projete a apresentação: rotina, o que a turma viveu em cada campo de experiência, fotos dos momentos.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5120640"/>
            <a:ext cx="6464808" cy="1170432"/>
          </a:xfrm>
          <a:prstGeom prst="roundRect">
            <a:avLst>
              <a:gd name="adj" fmla="val 1406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5385816"/>
            <a:ext cx="640080" cy="64008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5526634"/>
            <a:ext cx="358445" cy="35844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5303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min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2377440" y="528523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acompanhamos cada criança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554480" y="5669280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Explique como a equipe observa e registra, e como ler o relatório (seis blocos, sem nota, sem comparação).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6400800"/>
            <a:ext cx="6464808" cy="1170432"/>
          </a:xfrm>
          <a:prstGeom prst="roundRect">
            <a:avLst>
              <a:gd name="adj" fmla="val 1406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6665976"/>
            <a:ext cx="640080" cy="64008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8" y="6806794"/>
            <a:ext cx="358445" cy="35844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54480" y="6583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min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2377440" y="656539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Entrega e conversa individual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554480" y="6949440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Entregue o relatório em envelope, em conversas curtas. Assuntos delicados ficam para um horário individual.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7680960"/>
            <a:ext cx="6464808" cy="1170432"/>
          </a:xfrm>
          <a:prstGeom prst="roundRect">
            <a:avLst>
              <a:gd name="adj" fmla="val 14063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77240" y="7946136"/>
            <a:ext cx="640080" cy="6400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8" y="8086954"/>
            <a:ext cx="358445" cy="35844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54480" y="7863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min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2377440" y="784555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1554480" y="8229600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Agradeça, apresente os próximos passos e entregue a avaliação da reunião para as famílias responderem.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48640" y="9006840"/>
            <a:ext cx="6464808" cy="822960"/>
          </a:xfrm>
          <a:prstGeom prst="roundRect">
            <a:avLst>
              <a:gd name="adj" fmla="val 20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22960" y="9006840"/>
            <a:ext cx="5916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Leve impresso: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lista de presença, pauta, relatórios em envelopes, recibos de entrega e avaliações.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Reunião de Entrega dos Relatórios</a:t>
            </a:r>
            <a:endParaRPr lang="en-US" sz="800" dirty="0"/>
          </a:p>
        </p:txBody>
      </p:sp>
      <p:sp>
        <p:nvSpPr>
          <p:cNvPr id="38" name="Text 31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GUIA DA REUNIÃO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conversar com as famílias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 Indicadores da Qualidade na Educação Infantil (MEC, 2009) dedicam uma dimensão inteira à cooperação e troca com as famílias. Estes princípios ajudam a conversa a fortalecer essa parceria.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118104" cy="2011680"/>
          </a:xfrm>
          <a:prstGeom prst="roundRect">
            <a:avLst>
              <a:gd name="adj" fmla="val 8182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42032"/>
            <a:ext cx="384048" cy="384048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8716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Comece pelo que a criança conquistou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família precisa reconhecer o próprio filho no que você conta. Abra sempre com uma cena bonita e verdadeira.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95344" y="2286000"/>
            <a:ext cx="3118104" cy="2011680"/>
          </a:xfrm>
          <a:prstGeom prst="roundRect">
            <a:avLst>
              <a:gd name="adj" fmla="val 8182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23944" y="2542032"/>
            <a:ext cx="384048" cy="384048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23944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48716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Descreva fatos, não rótulos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23944" y="3154680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"Ele tem mordido nos momentos de disputa" em vez de "ele é agressivo". Fatos abrem conversa; rótulos fecham.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498848"/>
            <a:ext cx="3118104" cy="2011680"/>
          </a:xfrm>
          <a:prstGeom prst="roundRect">
            <a:avLst>
              <a:gd name="adj" fmla="val 8182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754880"/>
            <a:ext cx="384048" cy="38404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70001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Escute mais do que fala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67528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Pergunte como a criança é em casa. A família conhece a criança de um jeito que a creche não vê.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95344" y="4498848"/>
            <a:ext cx="3118104" cy="2011680"/>
          </a:xfrm>
          <a:prstGeom prst="roundRect">
            <a:avLst>
              <a:gd name="adj" fmla="val 8182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23944" y="4754880"/>
            <a:ext cx="384048" cy="384048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23944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72584" y="470001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Nunca compare crianças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123944" y="5367528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Nem com colegas, nem com irmãos. Compare a criança com ela mesma no início do semestre.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711696"/>
            <a:ext cx="3118104" cy="2011680"/>
          </a:xfrm>
          <a:prstGeom prst="roundRect">
            <a:avLst>
              <a:gd name="adj" fmla="val 8182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6967728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6967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691286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Combine um próximo passo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7580376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Termine com algo concreto para casa e para a creche: "vamos incentivar que ele coma sozinho".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95344" y="6711696"/>
            <a:ext cx="3118104" cy="2011680"/>
          </a:xfrm>
          <a:prstGeom prst="roundRect">
            <a:avLst>
              <a:gd name="adj" fmla="val 8182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23944" y="6967728"/>
            <a:ext cx="384048" cy="384048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23944" y="6967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672584" y="691286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Delicado é individual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123944" y="7580376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Preocupações sobre desenvolvimento são conversadas a sós, com a coordenação, nunca na roda.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Reunião de Entrega dos Relatórios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GUIA DA REUNIÃO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Frases para conversas delicadas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91640" cy="1325880"/>
          </a:xfrm>
          <a:prstGeom prst="roundRect">
            <a:avLst>
              <a:gd name="adj" fmla="val 9655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Mordidas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463040"/>
            <a:ext cx="4636008" cy="1325880"/>
          </a:xfrm>
          <a:prstGeom prst="roundRect">
            <a:avLst>
              <a:gd name="adj" fmla="val 9655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463040"/>
            <a:ext cx="4178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"Nesta fase, muitas crianças ainda usam a boca quando faltam palavras. Temos acompanhado de perto e oferecido alternativas, e as situações estão diminuindo. Em casa, vocês têm notado algo parecido?"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1691640" cy="1325880"/>
          </a:xfrm>
          <a:prstGeom prst="roundRect">
            <a:avLst>
              <a:gd name="adj" fmla="val 9655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98648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Adaptação e choro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2898648"/>
            <a:ext cx="4636008" cy="1325880"/>
          </a:xfrm>
          <a:prstGeom prst="roundRect">
            <a:avLst>
              <a:gd name="adj" fmla="val 9655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2898648"/>
            <a:ext cx="4178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"O choro na despedida mostra o vínculo forte que ela tem com vocês. Depois da chegada, ela se acalma e participa. Despedidas curtas e sempre do mesmo jeito ajudam muito."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1691640" cy="1325880"/>
          </a:xfrm>
          <a:prstGeom prst="roundRect">
            <a:avLst>
              <a:gd name="adj" fmla="val 9655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334256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Desfralde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4334256"/>
            <a:ext cx="4636008" cy="1325880"/>
          </a:xfrm>
          <a:prstGeom prst="roundRect">
            <a:avLst>
              <a:gd name="adj" fmla="val 9655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4334256"/>
            <a:ext cx="4178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"Ele tem dado sinais de interesse pelo banheiro. Que tal combinarmos de começar juntos, no tempo dele, sem pressa?"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769864"/>
            <a:ext cx="1691640" cy="1325880"/>
          </a:xfrm>
          <a:prstGeom prst="roundRect">
            <a:avLst>
              <a:gd name="adj" fmla="val 9655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769864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Alimentação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5769864"/>
            <a:ext cx="4636008" cy="1325880"/>
          </a:xfrm>
          <a:prstGeom prst="roundRect">
            <a:avLst>
              <a:gd name="adj" fmla="val 9655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6040" y="5769864"/>
            <a:ext cx="4178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"Ela tem experimentado novos alimentos aos poucos. Oferecemos de novo, sem pressão. Quais ela come bem em casa?"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7205472"/>
            <a:ext cx="1691640" cy="1325880"/>
          </a:xfrm>
          <a:prstGeom prst="roundRect">
            <a:avLst>
              <a:gd name="adj" fmla="val 9655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7205472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Fala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7205472"/>
            <a:ext cx="4636008" cy="1325880"/>
          </a:xfrm>
          <a:prstGeom prst="roundRect">
            <a:avLst>
              <a:gd name="adj" fmla="val 9655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06040" y="7205472"/>
            <a:ext cx="4178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"Ele se comunica muito por gestos e algumas palavras, e entende tudo o que dizemos. Conversar e ler juntos em casa ajuda bastante."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8641080"/>
            <a:ext cx="1691640" cy="1325880"/>
          </a:xfrm>
          <a:prstGeom prst="roundRect">
            <a:avLst>
              <a:gd name="adj" fmla="val 9655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86410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Sinal de atenção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8641080"/>
            <a:ext cx="4636008" cy="1325880"/>
          </a:xfrm>
          <a:prstGeom prst="roundRect">
            <a:avLst>
              <a:gd name="adj" fmla="val 9655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06040" y="8641080"/>
            <a:ext cx="4178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Nunca na roda. Marque uma conversa individual com a coordenação: "Observamos algumas situações e gostaríamos de conversar com calma com vocês."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Reunião de Entrega dos Relatórios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E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9683496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A84A8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186684" y="914400"/>
            <a:ext cx="548640" cy="5486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66998" y="1078992"/>
            <a:ext cx="351130" cy="35113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06140" y="1594714"/>
            <a:ext cx="395021" cy="395021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76726" y="1572768"/>
            <a:ext cx="263347" cy="263347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38828" y="1221638"/>
            <a:ext cx="219456" cy="21945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CONVITE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560320"/>
            <a:ext cx="5550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Venha conhecer o semestre do seu filho!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160520"/>
            <a:ext cx="5001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Queridas famílias da turma [nome da turma], convidamos vocês para a reunião de entrega dos relatórios. Vamos mostrar as descobertas da turma e conversar sobre o desenvolvimento de cada criança.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5669280"/>
            <a:ext cx="1728216" cy="1828800"/>
          </a:xfrm>
          <a:prstGeom prst="roundRect">
            <a:avLst>
              <a:gd name="adj" fmla="val 9524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9908" y="5852160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726" y="5992978"/>
            <a:ext cx="358445" cy="35844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05840" y="658368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685800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[dia/mês]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916936" y="5669280"/>
            <a:ext cx="1728216" cy="1828800"/>
          </a:xfrm>
          <a:prstGeom prst="roundRect">
            <a:avLst>
              <a:gd name="adj" fmla="val 9524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61004" y="5852160"/>
            <a:ext cx="640080" cy="64008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822" y="5992978"/>
            <a:ext cx="358445" cy="35844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916936" y="658368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Horário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2916936" y="685800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[00h00]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828032" y="5669280"/>
            <a:ext cx="1728216" cy="1828800"/>
          </a:xfrm>
          <a:prstGeom prst="roundRect">
            <a:avLst>
              <a:gd name="adj" fmla="val 9524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72100" y="5852160"/>
            <a:ext cx="640080" cy="64008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918" y="5992978"/>
            <a:ext cx="358445" cy="35844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28032" y="658368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Local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828032" y="685800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[sala / escola]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786384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86D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presença de vocês é muito importante para nós!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841248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 carinho, equipe da turma [nome] · [Nome da escola / CMEI]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4526280"/>
          </a:xfrm>
          <a:prstGeom prst="roundRect">
            <a:avLst>
              <a:gd name="adj" fmla="val 3636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731520"/>
            <a:ext cx="777240" cy="77724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902513"/>
            <a:ext cx="435254" cy="435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795528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Convite para a família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1216152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entrega dos relatórios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920240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Família de: </a:t>
            </a:r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_________________________________________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23160"/>
            <a:ext cx="5733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Venham conhecer as descobertas da turma e receber o relatório do semestre do seu filho. Contamos com vocês!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91840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Data: </a:t>
            </a:r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[___/___]</a:t>
            </a:r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  Horário: </a:t>
            </a:r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[__h__]</a:t>
            </a:r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  Local: </a:t>
            </a:r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[__________]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114800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Equipe da turma [nome]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5239512"/>
            <a:ext cx="7013448" cy="0"/>
          </a:xfrm>
          <a:prstGeom prst="line">
            <a:avLst/>
          </a:prstGeom>
          <a:noFill/>
          <a:ln w="12700">
            <a:solidFill>
              <a:srgbClr val="B9B4D3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27432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486400"/>
            <a:ext cx="6464808" cy="4526280"/>
          </a:xfrm>
          <a:prstGeom prst="roundRect">
            <a:avLst>
              <a:gd name="adj" fmla="val 363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5806440"/>
            <a:ext cx="777240" cy="77724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3" y="5977433"/>
            <a:ext cx="435254" cy="43525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74520" y="5870448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Convite para a família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1874520" y="6291072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entrega dos relatórios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6995160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Família de: </a:t>
            </a:r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_________________________________________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914400" y="7498080"/>
            <a:ext cx="5733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Venham conhecer as descobertas da turma e receber o relatório do semestre do seu filho. Contamos com vocês!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14400" y="8366760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Data: </a:t>
            </a:r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[___/___]</a:t>
            </a:r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  Horário: </a:t>
            </a:r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[__h__]</a:t>
            </a:r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  Local: </a:t>
            </a:r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[__________]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9189720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A58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Equipe da turma [nome]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AS FAMÍLIAS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Pauta da reunião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escola / CMEI] · Turma [nome] · [data]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64808" cy="868680"/>
          </a:xfrm>
          <a:prstGeom prst="roundRect">
            <a:avLst>
              <a:gd name="adj" fmla="val 1473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75688"/>
            <a:ext cx="457200" cy="4572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5367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Boas-vindas e apresentação da equipe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6464808" cy="868680"/>
          </a:xfrm>
          <a:prstGeom prst="roundRect">
            <a:avLst>
              <a:gd name="adj" fmla="val 14737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81528"/>
            <a:ext cx="457200" cy="45720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80360"/>
            <a:ext cx="5367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foi o semestre da turma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6464808" cy="868680"/>
          </a:xfrm>
          <a:prstGeom prst="roundRect">
            <a:avLst>
              <a:gd name="adj" fmla="val 14737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86200"/>
            <a:ext cx="5367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acompanhamos e avaliamos cada criança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6464808" cy="868680"/>
          </a:xfrm>
          <a:prstGeom prst="roundRect">
            <a:avLst>
              <a:gd name="adj" fmla="val 14737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093208"/>
            <a:ext cx="457200" cy="45720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892040"/>
            <a:ext cx="5367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Entrega dos relatórios e conversas individuais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897880"/>
            <a:ext cx="6464808" cy="868680"/>
          </a:xfrm>
          <a:prstGeom prst="roundRect">
            <a:avLst>
              <a:gd name="adj" fmla="val 14737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6099048"/>
            <a:ext cx="457200" cy="45720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6099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897880"/>
            <a:ext cx="5367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Próximos passos e datas importantes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903720"/>
            <a:ext cx="6464808" cy="868680"/>
          </a:xfrm>
          <a:prstGeom prst="roundRect">
            <a:avLst>
              <a:gd name="adj" fmla="val 1473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7104888"/>
            <a:ext cx="457200" cy="4572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7104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6903720"/>
            <a:ext cx="5367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Avaliação da reunião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8046720"/>
            <a:ext cx="6464808" cy="1920240"/>
          </a:xfrm>
          <a:prstGeom prst="roundRect">
            <a:avLst>
              <a:gd name="adj" fmla="val 857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8183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ANOTAÇÕES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" y="8778240"/>
            <a:ext cx="591616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9162288"/>
            <a:ext cx="591616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9546336"/>
            <a:ext cx="591616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Reunião de Entrega dos Relatórios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DOCUMENTO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Lista de presença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escola / CMEI] · Turma [nome] · Data: ___/___/______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64808" cy="384048"/>
          </a:xfrm>
          <a:prstGeom prst="roundRect">
            <a:avLst>
              <a:gd name="adj" fmla="val 19048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783080"/>
            <a:ext cx="265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7830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136392" y="17830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 presente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30952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Assinatura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167128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216712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16712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216712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482596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82596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" y="248259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248259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248259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98064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798064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0120" y="279806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279806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279806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113532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113532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0120" y="311353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311353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7800" y="311353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429000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3429000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0120" y="342900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63240" y="342900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57800" y="342900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744468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3744468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60120" y="374446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63240" y="374446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57800" y="374446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059936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" y="4059936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60120" y="405993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63240" y="405993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57800" y="405993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4375404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" y="4375404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60120" y="437540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3240" y="437540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437540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690872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1792" y="4690872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60120" y="469087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63240" y="469087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57800" y="469087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5006340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1792" y="5006340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60120" y="500634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63240" y="500634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57800" y="500634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5321808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" y="5321808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60120" y="532180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63240" y="532180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57800" y="532180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637276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1792" y="5637276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60120" y="563727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63240" y="563727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57800" y="563727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5952744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21792" y="5952744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60120" y="595274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63240" y="595274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57800" y="595274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8640" y="6268212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21792" y="6268212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60120" y="626821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63240" y="626821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57800" y="626821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48640" y="6583680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21792" y="6583680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960120" y="658368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63240" y="658368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57800" y="658368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" y="6899148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21792" y="6899148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60120" y="689914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63240" y="689914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257800" y="689914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" y="7214616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21792" y="7214616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17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60120" y="721461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63240" y="721461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57800" y="721461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48640" y="7530084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21792" y="7530084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60120" y="753008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063240" y="753008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57800" y="753008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48640" y="7845552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21792" y="7845552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19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960120" y="784555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63240" y="784555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257800" y="784555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48640" y="8161020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21792" y="8161020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960120" y="816102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063240" y="816102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257800" y="816102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48640" y="8476488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21792" y="8476488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21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960120" y="847648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063240" y="847648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257800" y="8476488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48640" y="8791956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21792" y="8791956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22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960120" y="879195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63240" y="879195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257800" y="8791956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48640" y="9107424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621792" y="9107424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23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960120" y="910742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063240" y="910742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257800" y="9107424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8640" y="9422892"/>
            <a:ext cx="6464808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621792" y="9422892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24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60120" y="942289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063240" y="942289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257800" y="9422892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48640" y="9738360"/>
            <a:ext cx="6464808" cy="31546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621792" y="9738360"/>
            <a:ext cx="2651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960120" y="973836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063240" y="973836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57800" y="9738360"/>
            <a:ext cx="0" cy="31546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Reunião de Entrega dos Relatórios</a:t>
            </a:r>
            <a:endParaRPr lang="en-US" sz="800" dirty="0"/>
          </a:p>
        </p:txBody>
      </p:sp>
      <p:sp>
        <p:nvSpPr>
          <p:cNvPr id="136" name="Text 1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64808" cy="2926080"/>
          </a:xfrm>
          <a:prstGeom prst="roundRect">
            <a:avLst>
              <a:gd name="adj" fmla="val 562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594360"/>
            <a:ext cx="5824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Recibo de entrega do relatório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097280"/>
            <a:ext cx="5824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Recebi o relatório descritivo de desenvolvimento e aprendizagem do </a:t>
            </a:r>
            <a:pPr indent="0" marL="0">
              <a:buNone/>
            </a:pPr>
            <a:r>
              <a:rPr lang="en-US" sz="11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[1º/2º]</a:t>
            </a:r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semestre de </a:t>
            </a:r>
            <a:pPr indent="0" marL="0">
              <a:buNone/>
            </a:pPr>
            <a:r>
              <a:rPr lang="en-US" sz="11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[ano]</a:t>
            </a:r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referente à criança: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82472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384048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3480" y="2743200"/>
            <a:ext cx="170992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Assinatura do responsável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7013448" cy="0"/>
          </a:xfrm>
          <a:prstGeom prst="line">
            <a:avLst/>
          </a:prstGeom>
          <a:noFill/>
          <a:ln w="12700">
            <a:solidFill>
              <a:srgbClr val="B9B4D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27432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6464808" cy="2926080"/>
          </a:xfrm>
          <a:prstGeom prst="roundRect">
            <a:avLst>
              <a:gd name="adj" fmla="val 562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77640"/>
            <a:ext cx="5824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Recibo de entrega do relatório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5824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Recebi o relatório descritivo de desenvolvimento e aprendizagem do </a:t>
            </a:r>
            <a:pPr indent="0" marL="0">
              <a:buNone/>
            </a:pPr>
            <a:r>
              <a:rPr lang="en-US" sz="11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[1º/2º]</a:t>
            </a:r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semestre de </a:t>
            </a:r>
            <a:pPr indent="0" marL="0">
              <a:buNone/>
            </a:pPr>
            <a:r>
              <a:rPr lang="en-US" sz="11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[ano]</a:t>
            </a:r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referente à criança: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5303520"/>
            <a:ext cx="582472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349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68680" y="6126480"/>
            <a:ext cx="384048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6126480"/>
            <a:ext cx="170992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6172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Assinatura do responsável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6172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6903720"/>
            <a:ext cx="7013448" cy="0"/>
          </a:xfrm>
          <a:prstGeom prst="line">
            <a:avLst/>
          </a:prstGeom>
          <a:noFill/>
          <a:ln w="12700">
            <a:solidFill>
              <a:srgbClr val="B9B4D3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274320" y="6757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7132320"/>
            <a:ext cx="6464808" cy="2926080"/>
          </a:xfrm>
          <a:prstGeom prst="roundRect">
            <a:avLst>
              <a:gd name="adj" fmla="val 5625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7360920"/>
            <a:ext cx="5824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Recibo de entrega do relatório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7863840"/>
            <a:ext cx="5824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Recebi o relatório descritivo de desenvolvimento e aprendizagem do </a:t>
            </a:r>
            <a:pPr indent="0" marL="0">
              <a:buNone/>
            </a:pPr>
            <a:r>
              <a:rPr lang="en-US" sz="11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[1º/2º]</a:t>
            </a:r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semestre de </a:t>
            </a:r>
            <a:pPr indent="0" marL="0">
              <a:buNone/>
            </a:pPr>
            <a:r>
              <a:rPr lang="en-US" sz="11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[ano]</a:t>
            </a:r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referente à criança: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8686800"/>
            <a:ext cx="582472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8732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Nome da criança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" y="9509760"/>
            <a:ext cx="384048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9509760"/>
            <a:ext cx="170992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9555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Assinatura do responsável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983480" y="9555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A PROFESSORA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Registro da conversa individual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7432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39312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39312" y="1920240"/>
            <a:ext cx="18288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15584" y="14630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815584" y="1920240"/>
            <a:ext cx="100584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40280"/>
            <a:ext cx="6464808" cy="1645920"/>
          </a:xfrm>
          <a:prstGeom prst="roundRect">
            <a:avLst>
              <a:gd name="adj" fmla="val 7778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404872"/>
            <a:ext cx="5916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Pontos destacados no relatório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28416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39312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23360"/>
            <a:ext cx="6464808" cy="1645920"/>
          </a:xfrm>
          <a:prstGeom prst="roundRect">
            <a:avLst>
              <a:gd name="adj" fmla="val 7778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87952"/>
            <a:ext cx="5916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a família contou sobre a criança em casa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800600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11496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422392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806440"/>
            <a:ext cx="6464808" cy="1645920"/>
          </a:xfrm>
          <a:prstGeom prst="roundRect">
            <a:avLst>
              <a:gd name="adj" fmla="val 7778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971032"/>
            <a:ext cx="5916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Dúvidas ou preocupações da família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6583680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6894576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7205472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7589520"/>
            <a:ext cx="6464808" cy="1645920"/>
          </a:xfrm>
          <a:prstGeom prst="roundRect">
            <a:avLst>
              <a:gd name="adj" fmla="val 7778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7754112"/>
            <a:ext cx="5916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Combinados (creche e família)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8366760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8677656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8988552"/>
            <a:ext cx="591616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946404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Precisa de acompanhamento da coordenação?   ☐ Não   ☐ Sim  →  data combinada: ___/___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Reunião de Entrega dos Relatórios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4526280"/>
          </a:xfrm>
          <a:prstGeom prst="roundRect">
            <a:avLst>
              <a:gd name="adj" fmla="val 3636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685800"/>
            <a:ext cx="5824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foi a reunião para você?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124712"/>
            <a:ext cx="5824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Sua opinião ajuda a melhorar os próximos encontros. Não precisa se identificar.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Entendi como a creche acompanha meu filho.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60020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☐ Sim     ☐ Em parte     ☐ Não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67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relatório me ajudou a conhecer o semestre dele.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67128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☐ Sim     ☐ Em parte     ☐ Não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34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Tive espaço para tirar minhas dúvidas.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34056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☐ Sim     ☐ Em parte     ☐ Não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429000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 recado para a equipe: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4069080"/>
            <a:ext cx="582472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434840"/>
            <a:ext cx="582472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5239512"/>
            <a:ext cx="7013448" cy="0"/>
          </a:xfrm>
          <a:prstGeom prst="line">
            <a:avLst/>
          </a:prstGeom>
          <a:noFill/>
          <a:ln w="12700">
            <a:solidFill>
              <a:srgbClr val="B9B4D3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27432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6464808" cy="4526280"/>
          </a:xfrm>
          <a:prstGeom prst="roundRect">
            <a:avLst>
              <a:gd name="adj" fmla="val 3636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760720"/>
            <a:ext cx="5824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foi a reunião para você?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6199632"/>
            <a:ext cx="5824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Sua opinião ajuda a melhorar os próximos encontros. Não precisa se identificar.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6675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Entendi como a creche acompanha meu filho.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667512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☐ Sim     ☐ Em parte     ☐ Não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7242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relatório me ajudou a conhecer o semestre dele.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7242048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☐ Sim     ☐ Em parte     ☐ Não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7808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Tive espaço para tirar minhas dúvidas.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7808976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☐ Sim     ☐ Em parte     ☐ Não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8503920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 recado para a equipe: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" y="9144000"/>
            <a:ext cx="582472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9509760"/>
            <a:ext cx="582472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4526280"/>
          </a:xfrm>
          <a:prstGeom prst="roundRect">
            <a:avLst>
              <a:gd name="adj" fmla="val 3636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41848" y="731520"/>
            <a:ext cx="434340" cy="4343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80430" y="861822"/>
            <a:ext cx="277978" cy="27797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5584" y="1270102"/>
            <a:ext cx="312725" cy="312725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7298" y="1252728"/>
            <a:ext cx="208483" cy="20848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53962" y="974750"/>
            <a:ext cx="173736" cy="17373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868680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Obrigada, família!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828800"/>
            <a:ext cx="5733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Foi muito bom ter vocês na reunião. Seguimos juntos cuidando e acompanhando cada descoberta de [nome da criança]. Qualquer dúvida, estamos à disposição.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03320"/>
            <a:ext cx="5733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 carinho, equipe da turma [nome]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5239512"/>
            <a:ext cx="7013448" cy="0"/>
          </a:xfrm>
          <a:prstGeom prst="line">
            <a:avLst/>
          </a:prstGeom>
          <a:noFill/>
          <a:ln w="12700">
            <a:solidFill>
              <a:srgbClr val="B9B4D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27432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6464808" cy="4526280"/>
          </a:xfrm>
          <a:prstGeom prst="roundRect">
            <a:avLst>
              <a:gd name="adj" fmla="val 363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41848" y="5806440"/>
            <a:ext cx="434340" cy="4343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0430" y="5936742"/>
            <a:ext cx="277978" cy="27797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5584" y="6345022"/>
            <a:ext cx="312725" cy="312725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7298" y="6327648"/>
            <a:ext cx="208483" cy="20848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3962" y="6049670"/>
            <a:ext cx="173736" cy="17373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943600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Obrigada, família!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6903720"/>
            <a:ext cx="5733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Foi muito bom ter vocês na reunião. Seguimos juntos cuidando e acompanhando cada descoberta de [nome da criança]. Qualquer dúvida, estamos à disposição.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8778240"/>
            <a:ext cx="5733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 carinho, equipe da turma [nome]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5646" y="100126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55996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518" y="153619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6796" y="115580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ENCERRAR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reunião é o momento em que o relatório vira conversa.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Quando a família entende como a creche observa, registra e cuida, o relatório deixa de ser um papel e vira parceria. Prepare o encontro com calma, escute mais do que fala e termine sempre com um combinado para o próximo semestre.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6464808" cy="3977640"/>
          </a:xfrm>
          <a:prstGeom prst="roundRect">
            <a:avLst>
              <a:gd name="adj" fmla="val 4138"/>
            </a:avLst>
          </a:prstGeom>
          <a:solidFill>
            <a:srgbClr val="3A3660"/>
          </a:solidFill>
          <a:ln w="12700">
            <a:solidFill>
              <a:srgbClr val="3A36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852160"/>
            <a:ext cx="582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FONTES CONSULTADAS NA ELABORAÇÃO DESTE MATERIAL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6217920"/>
            <a:ext cx="5824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Lei nº 9.394/1996 (LDB), art. 31, com redação da Lei nº 12.796/2013.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CNE/CEB. Resolução nº 5/2009. Diretrizes Curriculares Nacionais para a Educação Infantil.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Base Nacional Comum Curricular: Educação Infantil. Brasília: MEC, 2017.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Indicadores da Qualidade na Educação Infantil. Brasília: MEC/SEB, 2009.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Práticas cotidianas na Educação Infantil: bases para a reflexão sobre as orientações curriculares. Brasília: MEC/SEB, 2009.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HOFFMANN, J. Avaliação e educação infantil: um olhar sensível e reflexivo sobre a criança. Porto Alegre: Mediação.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9098280"/>
            <a:ext cx="5824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Conversas sobre dificuldades ou sinais de atenção devem ser individuais e combinadas antes com a coordenação.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Reunião de Entrega dos Relatórios · Material de apoio pedagógico para uso individual. Proibida a revenda ou distribuição.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Reunião de Entrega dos Relatórios</dc:title>
  <dc:subject>PptxGenJS Presentation</dc:subject>
  <dc:creator>Kit Reunião de Entrega dos Relatórios</dc:creator>
  <cp:lastModifiedBy>Kit Reunião de Entrega dos Relatórios</cp:lastModifiedBy>
  <cp:revision>1</cp:revision>
  <dcterms:created xsi:type="dcterms:W3CDTF">2026-10-14T17:50:34Z</dcterms:created>
  <dcterms:modified xsi:type="dcterms:W3CDTF">2026-10-14T17:50:34Z</dcterms:modified>
</cp:coreProperties>
</file>